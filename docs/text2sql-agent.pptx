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Confidence</c:v>
                </c:pt>
              </c:strCache>
            </c:strRef>
          </c:tx>
          <c:spPr>
            <a:solidFill>
              <a:srgbClr val="1F4E9C"/>
            </a:solidFill>
            <a:effectLst/>
          </c:spPr>
          <c:invertIfNegative val="0"/>
          <c:dLbls>
            <c:numFmt formatCode="0.0" sourceLinked="0"/>
            <c:txPr>
              <a:bodyPr/>
              <a:lstStyle/>
              <a:p>
                <a:pPr>
                  <a:defRPr b="0" i="0" strike="noStrike" sz="1100" u="none">
                    <a:solidFill>
                      <a:srgbClr val="1F3A6E"/>
                    </a:solidFill>
                    <a:latin typeface="+mn-lt"/>
                  </a:defRPr>
                </a:pPr>
              </a:p>
            </c:txPr>
            <c:showLegendKey val="0"/>
            <c:showVal val="1"/>
            <c:showCatName val="0"/>
            <c:showSerName val="0"/>
            <c:showPercent val="0"/>
            <c:showBubbleSize val="0"/>
            <c:showLeaderLines val="0"/>
          </c:dLbls>
          <c:cat>
            <c:multiLvlStrRef>
              <c:f>Sheet1!$A$2:$A$7</c:f>
              <c:multiLvlStrCache>
                <c:ptCount val="6"/>
                <c:lvl>
                  <c:pt idx="0">
                    <c:v>curated</c:v>
                  </c:pt>
                  <c:pt idx="1">
                    <c:v>glossary</c:v>
                  </c:pt>
                  <c:pt idx="2">
                    <c:v>comment</c:v>
                  </c:pt>
                  <c:pt idx="3">
                    <c:v>query log</c:v>
                  </c:pt>
                  <c:pt idx="4">
                    <c:v>feedback</c:v>
                  </c:pt>
                  <c:pt idx="5">
                    <c:v>LLM</c:v>
                  </c:pt>
                </c:lvl>
              </c:multiLvlStrCache>
            </c:multiLvlStrRef>
          </c:cat>
          <c:val>
            <c:numRef>
              <c:f>Sheet1!$B$2:$B$7</c:f>
              <c:numCache>
                <c:formatCode>General</c:formatCode>
                <c:ptCount val="6"/>
                <c:pt idx="0">
                  <c:v>1</c:v>
                </c:pt>
                <c:pt idx="1">
                  <c:v>0.9</c:v>
                </c:pt>
                <c:pt idx="2">
                  <c:v>0.7</c:v>
                </c:pt>
                <c:pt idx="3">
                  <c:v>0.6</c:v>
                </c:pt>
                <c:pt idx="4">
                  <c:v>0.6</c:v>
                </c:pt>
                <c:pt idx="5">
                  <c:v>0.5</c:v>
                </c:pt>
              </c:numCache>
            </c:numRef>
          </c:val>
        </c:ser>
        <c:dLbls>
          <c:numFmt formatCode="0.0" sourceLinked="0"/>
          <c:txPr>
            <a:bodyPr/>
            <a:lstStyle/>
            <a:p>
              <a:pPr>
                <a:defRPr b="0" i="0" strike="noStrike" sz="1100" u="none">
                  <a:solidFill>
                    <a:srgbClr val="1F3A6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3A6E"/>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thanks for having me. I'm going to show you a text-to-SQL agent I built end to end: you ask a question in plain English, and it returns SQL that has been checked.
The plan: first the problem, then the architecture and the request flow. Then a short live demo in Telegram, and one question followed step by step through the system. After that, three design decisions and why I made them, how follow-up questions and memory work, how I evaluate it, and where it falls short and what I would change for production.
One thing up front: all the data is a synthetic e-commerce schema. There is no real company data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architecture, the problem. The obvious approach is: give the schema to an LLM and ask for SQL. In production that breaks in three ways.
One: hallucinated names. The model invents a plausible column. The SQL parses, so it looks fine.
Two, and this is the dangerous one: silently wrong meaning. There are two columns called amount in different tables. The model picks one, the query runs, and you get a confident wrong number with no error anywhere.
Three: it is not reproducible. The same question gives different SQL on different days, so you cannot regression-test a fix.
The root cause is that one prompt bundles three different jobs: understanding language, recalling the schema, and writing SQL. My design is about separating them so each one can be verified. The scope is natural language in, validated ClickHouse SQL out. I do not execute the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in one Telegram chat. Each answer takes around ten seconds, so keep talking while it runs.
One. Revenue by region for the last 7 days. Point out that I never said which table: it is inferred from the metric, the join to users is added, and the time filter is there.
Two. What about yesterday? It does not ask again. The metric and the grouping are inherited, only the time changes.
Three. Only gold members. Same thing: a filter is patched in.
Four. Top 3 categories by revenue in each region. It is still a follow-up: it keeps yesterday and gold members, groups by category, and ranks the top three inside each region. In ClickHouse that is LIMIT 3 BY region.
Five. Total amount by channel last month. This is a new question, and 'amount' is ambiguous: it could be the order amount, which is revenue, or the payment amount. Both scores are close and below the acceptance line, so instead of guessing it lists the candidates and asks. Reply 'payment' (by name, because the order of the options can change). It then writes SQL on the payments table, joined to orders for the channel, filtered to last month. That interrupt is the theme of this talk: ask, don't guess.
If anything fails, switch to the recording, then to the curl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saw it work. Here is what is happening inside. This is the whole system on one page. The design principle is one sentence: the LLM does not decide names, code does.
Four layers. Blue boxes are LLM calls, green boxes are deterministic code.
Layer one is extraction. The LLM only copies phrases from the question: the metric, the dimension, the time, the filter. It does not write SQL and does not translate names.
Layer two is resolution, and this is where names get decided, in code. Each candidate gets a score: alias similarity times how trustworthy the alias source is. Above eighty we accept, ninety for metrics. Between forty and eighty we ask the user. Below forty we drop it and say so. Joins come from declared metadata.
Layer three is the second LLM call. It writes the SQL, but the prompt pins the table, the metric expression, the joins and the time filter. It assembles structure, it cannot introduce a name.
Layer four is validation: we parse the SQL into an AST and check it. If it fails, the error goes back for a repair, at most two rounds.
Below: three memory layers, and metadata split the way a company splits it, into three sources. And the trade-off on the bottom right: two LLM calls, around ten seconds per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system as a request flow, and you can map the demo onto it. Your first question took the green path. The follow-ups, what about yesterday and only gold members, went through the merge step. And the last one, total amount by channel last month, took the orange path: amount was ambiguous, so it asked me, and after my reply it picked up where it left off and finished the query.
A message comes in from Telegram or HTTP, gets cleaned and de-duplicated, and reaches the orchestrator with the session state and project memory.
Extraction runs first. Then a rule-based step decides the turn mode: a new query, a follow-up patch, or a reply to a pending question. For a follow-up we merge into the previous state.
Resolution scores every entity, and the score band decides. Accept goes down the green path: infer the table and joins, generate, validate, with the repair loop in red. Anything uncertain goes down the orange path: the system asks the user with numbered candidates, the task is persisted, and the reply resumes at the turn mode. That survives a restart.
At the end we save the session state and the user preference, and an asynchronous step lets an LLM decide whether something is worth remembering for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follow one real question through the system. These are real outputs from a run.
Step one, extraction: the LLM returns three phrases: revenue, region, last 7 days. That took about four seconds.
Step two, resolution, in code. Revenue matches the metric revenue exactly, defined as the sum of orders.amount, and because that metric belongs to orders, orders becomes the base table. Region is the interesting one: both users.region and sellers.region match with a perfect score. That is a collision. The system does not pick the first one: it measures the join distance from orders, users is one hop away, sellers is two, so users.region wins. If there were no base table, it would ask instead. The time phrase becomes the last seven days, and the join comes from the declared graph.
Step three, the second LLM call writes the SQL with all of these names pinned.
Step four, validation: read-only, joins match the declared edges, the metric expression is present. It also warns about a large scan: the demo orders table is set to eighty million rows. That is a static estimate, not a measurement.
At the bottom, the same matcher on other inputs: GMV is an alias for revenue. Region with no base table asks. And customer lifetime value fuzzy-matches average order value at 85.5, which is below the 90 bar I set for metrics, so it asks instead of answering with the wrong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decision: why layers and not one big prompt.
First, testability. When an answer is wrong I want to know which stage failed. With one prompt I cannot tell if the model misunderstood the question or invented a column. With layers, each stage has an input and an output I can test on its own. In my test suite the LLM calls are mocked, so everything else is regression-tested like ordinary code.
Second, control. A business definition like revenue should never be improvised by a model. It lives in the catalog, and the model receives it. So revenue means the same thing every time.
Third, cost of change. Adding a metric means adding a row to a YAML file, not re-tuning a prompt and hoping nothing else breaks.
The trade-off is two LLM calls and around ten seconds per question. I accepted that.
If asked why not just use a bigger model or fine-tune: a stronger model makes fewer mistakes but it still cannot know your company's definition of a metric, and fine-tuning would need redoing every time the schema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decision: the schema is declared, not guessed.
Metadata is split the way a company splits it. One file mocks the physical catalog, like Unity Catalog: tables, columns, types, row counts. One mocks a semantic layer, like LookML: governed metric definitions and the join graph. And one is an alias table: business names mapped to entities, each with a source and a confidence.
Matching is deterministic. The score is alias similarity times the confidence of the alias source. A curated alias counts fully. One mined from query logs counts sixty percent, so on its own it can never be auto-accepted. LLM-generated aliases start as pending and are not even indexed until someone reviews them.
Then the policy. Eighty or more: accept. For metrics I use ninety, because a wrong metric means every number is wrong. Between forty and eighty, or if the top two are within ten points: ask the user. Below forty: drop it and say so.
One more case: the same alias pointing at two entities, like region in users and in sellers. We never take the first one. If we know the base table, join distance decides. If not, we ask.
The point: joins and metric definitions are declared, never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decision: validate the AST, not the vibe.
Even with a constrained prompt the model can still make mistakes, so every generated query goes through checks that do not use an LLM.
First, a syntax guard: exactly one read-only statement, only tables from the whitelist, and a LIMIT is injected if it is missing.
Second, semantic checks. The SQL is parsed into an AST with sqlglot. Columns must exist, with aliases resolved. Joins must match the edges and keys declared in the metadata, so the model cannot invent a join condition. And the check I like most is fidelity: the resolved tables, the declared metric expression and the filters must actually appear in the SQL. If the model paraphrased the metric, the check fails. That is the semantic-drift catcher. In my live runs the metric expression was present every time.
Third, a cost estimate from catalog row counts: full scans of fact tables, join depth. It is shown in the explain payload.
When a check fails, the error text goes back to the model for a repair, at most two rounds. If it still fails, the user gets a clear message instead of plausible SQL. The guardrail is independent from the model it 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users do not ask one perfect question. They say: what about yesterday? So the system keeps state, and I treat multi-turn as a state machine, not as chat history pasted into a prompt.
This table is a real session. Turn one is a new query, so everything is set. Turn two, what about yesterday: only the time changes, the metric and the grouping are inherited. Turn three, only gold members: a filter is added, the rest is inherited. Turn four, top three categories in each region: it now groups by category and ranks inside each region, and still keeps yesterday and gold members. Every field remembers whether it was set this turn or inherited, so I can always explain where a value came from.
Turn detection itself is rule-based, so it is fast and predictable.
On the right, three memory layers. Session memory is that state, saved to disk, so a restart in the middle of a conversation is fine, and a pending question stays valid. Project memory holds domain vocabulary and corrections, for example big orders means amount over one thousand. It is an index file that points to topic files, injected into the extraction prompt. I modeled this part on how Claude Code's agent memory works, and an LLM decides in the background what is worth saving. User memory is only a weak signal: usage counts nudge the ranking by a few points before the decision, and can never override it.
The priority when they disagree: explicit input first, then session state, then project memory, then user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two kinds of evaluation, and they answer different questions.
The first is fast and offline. It mocks the two LLM calls but runs everything else for real: matching, thresholds, state merging, the confirmation flow and persistence. There are 362 tests and 45 golden cases, and the suite runs in about six seconds, so it can run on every change. The known limits are pinned as strict expected failures, so they are visible, named, and flip to a failure the day someone fixes them.
The second is a live run against the real model. It measures what mocks cannot: extraction quality and SQL quality. In my latest run, 36/36 regular questions were answered as expected. Of the SQL it generated, 34/34 passed the validator, and the declared metric expression was present in 33/33. The average was 9.2 s per question.
It was not always that clean. An earlier run was 30 out of 36, and all six misses had the same shape: the system asked the user instead of answering. Mostly the model extracted the bare word orders as the metric, which scores 67 against the order count metric, below my bar, so it asked. That is the trade-off of tight thresholds: fewer silent wrong answers, more questions. The fix was data, not prompt tuning: one curated alias, plus folding plurals like product categories.
Two honest caveats. The model varies between runs, so these numbers are a sample, not a stable accuracy figure. And valid SQL is not the same as correct SQL. The live eval is also how I found two real bugs: an invented filter column that was fuzzy-matched to the wrong column, and a value written as credit card where the data says credit_card. Both fixed, and pinned as regression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demo hides its boundaries, so here are mine. Each one on the left is a test that fails on purpose.
Multi-hop joins: when the path between two tables has an intermediate table, the system asks which bridge table to use, but it cannot yet complete the chain.
Unknown group-by: if the user asks to group by something that does not exist, it is silently dropped today. It should ask, like the matcher does.
Unsupported time phrases, like last quarter, fall back to the last seven days.
And the cost of tight thresholds: loosely worded questions now trigger a question. Curated aliases fix most of that, and there is an optional LLM step that can pick a clear winner among the existing candidates, off by default.
Now the production path, in the order I would build it. The principle: metadata is produced by the governance stack, and the agent only consumes it. The search index is derived, and can be rebuilt at any time.
One: catalog integration. In the demo three YAML files stand in for a physical catalog, a semantic layer and an alias table, each read by its own adapter. In production I swap each adapter for the real client, pull versioned snapshots, rebuild the index in the background and swap it atomically, and keep a last-known-good snapshot so the service still starts if the catalog is down.
Two: alias governance. Aliases become reviewed data with a source and a confidence. Nothing unreviewed goes live.
Three: hybrid retrieval. Add an embedding retriever next to the lexical index, then let an LLM make a constrained final choice among the candidates. The interface for that is already in the code.
Four: a verified query library for few-shot examples, and a feedback loop where user confirmations become candidate aliases after review, with the golden eval as the release gate.
Five: execution and governance. A read-only account, a cost gate, timeouts and result caching, plus row-level security, rate limits, PII masking and audit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a text-to-SQL agent where the model is a component, not the authority. Names come from a catalog, resolution is deterministic and scored, the SQL is checked by an AST, and the system asks when it is unsure. I measured it with two layers of evaluation, including the places where it fails, and I published those as tests.
I'm happy to go deeper on any layer.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100" dirty="0">
                <a:solidFill>
                  <a:schemeClr val="tx2"/>
                </a:solidFill>
              </a:rPr>
              <a:t>Text2SQL Agent · Text-to-SQL you can trust</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CREAM">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5669280" cy="1097280"/>
          </a:xfrm>
          <a:prstGeom prst="rect">
            <a:avLst/>
          </a:prstGeom>
          <a:noFill/>
          <a:ln/>
        </p:spPr>
        <p:txBody>
          <a:bodyPr wrap="square" lIns="0" tIns="0" rIns="0" bIns="0" rtlCol="0" anchor="ctr"/>
          <a:lstStyle/>
          <a:p>
            <a:pPr indent="0" marL="0">
              <a:buNone/>
            </a:pPr>
            <a:r>
              <a:rPr lang="en-US" sz="6000" b="1" dirty="0">
                <a:solidFill>
                  <a:schemeClr val="bg1"/>
                </a:solidFill>
                <a:latin typeface="Calibri" pitchFamily="34" charset="0"/>
                <a:ea typeface="Calibri" pitchFamily="34" charset="-122"/>
                <a:cs typeface="Calibri" pitchFamily="34" charset="-120"/>
              </a:rPr>
              <a:t>Text2SQL Agent</a:t>
            </a:r>
            <a:endParaRPr lang="en-US" sz="6000" dirty="0"/>
          </a:p>
        </p:txBody>
      </p:sp>
      <p:sp>
        <p:nvSpPr>
          <p:cNvPr id="3" name="Text 1"/>
          <p:cNvSpPr txBox="1"/>
          <p:nvPr/>
        </p:nvSpPr>
        <p:spPr>
          <a:xfrm>
            <a:off x="731520" y="5120640"/>
            <a:ext cx="5486400" cy="731520"/>
          </a:xfrm>
          <a:prstGeom prst="rect">
            <a:avLst/>
          </a:prstGeom>
          <a:noFill/>
          <a:ln/>
        </p:spPr>
        <p:txBody>
          <a:bodyPr wrap="square" lIns="0" tIns="0" rIns="0" bIns="0" rtlCol="0" anchor="t"/>
          <a:lstStyle/>
          <a:p>
            <a:pPr indent="0" marL="0">
              <a:buNone/>
            </a:pPr>
            <a:r>
              <a:rPr lang="en-US" sz="1600" i="1" dirty="0">
                <a:solidFill>
                  <a:schemeClr val="bg2"/>
                </a:solidFill>
                <a:latin typeface="Calibri" pitchFamily="34" charset="0"/>
                <a:ea typeface="Calibri" pitchFamily="34" charset="-122"/>
                <a:cs typeface="Calibri" pitchFamily="34" charset="-120"/>
              </a:rPr>
              <a:t>All data is a synthetic e-commerce schema.</a:t>
            </a:r>
            <a:endParaRPr lang="en-US" sz="1600" dirty="0"/>
          </a:p>
          <a:p>
            <a:pPr indent="0" marL="0">
              <a:buNone/>
            </a:pPr>
            <a:r>
              <a:rPr lang="en-US" sz="1600" i="1" dirty="0">
                <a:solidFill>
                  <a:schemeClr val="bg2"/>
                </a:solidFill>
                <a:latin typeface="Calibri" pitchFamily="34" charset="0"/>
                <a:ea typeface="Calibri" pitchFamily="34" charset="-122"/>
                <a:cs typeface="Calibri" pitchFamily="34" charset="-120"/>
              </a:rPr>
              <a:t>No real company data.</a:t>
            </a:r>
            <a:endParaRPr lang="en-US" sz="1600" dirty="0"/>
          </a:p>
        </p:txBody>
      </p:sp>
      <p:sp>
        <p:nvSpPr>
          <p:cNvPr id="4" name="Agenda card"/>
          <p:cNvSpPr/>
          <p:nvPr/>
        </p:nvSpPr>
        <p:spPr>
          <a:xfrm>
            <a:off x="6675120" y="822960"/>
            <a:ext cx="4937760" cy="5212080"/>
          </a:xfrm>
          <a:prstGeom prst="roundRect">
            <a:avLst>
              <a:gd name="adj" fmla="val 2778"/>
            </a:avLst>
          </a:prstGeom>
          <a:solidFill>
            <a:schemeClr val="bg1">
              <a:alpha val="92000"/>
            </a:schemeClr>
          </a:solidFill>
          <a:ln w="12700">
            <a:solidFill>
              <a:schemeClr val="accent6"/>
            </a:solidFill>
            <a:prstDash val="solid"/>
          </a:ln>
        </p:spPr>
      </p:sp>
      <p:sp>
        <p:nvSpPr>
          <p:cNvPr id="5" name="Text 3"/>
          <p:cNvSpPr txBox="1"/>
          <p:nvPr/>
        </p:nvSpPr>
        <p:spPr>
          <a:xfrm>
            <a:off x="7040880" y="1051560"/>
            <a:ext cx="4206240" cy="457200"/>
          </a:xfrm>
          <a:prstGeom prst="rect">
            <a:avLst/>
          </a:prstGeom>
          <a:noFill/>
          <a:ln/>
        </p:spPr>
        <p:txBody>
          <a:bodyPr wrap="square" lIns="0" tIns="0" rIns="0" bIns="0" rtlCol="0" anchor="t"/>
          <a:lstStyle/>
          <a:p>
            <a:pPr indent="0" marL="0">
              <a:buNone/>
            </a:pPr>
            <a:r>
              <a:rPr lang="en-US" sz="2400" b="1" dirty="0">
                <a:solidFill>
                  <a:schemeClr val="tx1"/>
                </a:solidFill>
                <a:latin typeface="Calibri" pitchFamily="34" charset="0"/>
                <a:ea typeface="Calibri" pitchFamily="34" charset="-122"/>
                <a:cs typeface="Calibri" pitchFamily="34" charset="-120"/>
              </a:rPr>
              <a:t>What I'll cover</a:t>
            </a:r>
            <a:endParaRPr lang="en-US" sz="2400" dirty="0"/>
          </a:p>
        </p:txBody>
      </p:sp>
      <p:sp>
        <p:nvSpPr>
          <p:cNvPr id="6" name="Agenda 1"/>
          <p:cNvSpPr/>
          <p:nvPr/>
        </p:nvSpPr>
        <p:spPr>
          <a:xfrm>
            <a:off x="7040880" y="1719072"/>
            <a:ext cx="310896" cy="310896"/>
          </a:xfrm>
          <a:prstGeom prst="ellipse">
            <a:avLst/>
          </a:prstGeom>
          <a:solidFill>
            <a:schemeClr val="accent1"/>
          </a:solidFill>
          <a:ln w="6350">
            <a:solidFill>
              <a:schemeClr val="accent1"/>
            </a:solidFill>
            <a:prstDash val="solid"/>
          </a:ln>
        </p:spPr>
      </p:sp>
      <p:sp>
        <p:nvSpPr>
          <p:cNvPr id="7" name="Text 5"/>
          <p:cNvSpPr txBox="1"/>
          <p:nvPr/>
        </p:nvSpPr>
        <p:spPr>
          <a:xfrm>
            <a:off x="7040880" y="17190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7543800" y="16916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Project background</a:t>
            </a:r>
            <a:endParaRPr lang="en-US" sz="1800" dirty="0"/>
          </a:p>
        </p:txBody>
      </p:sp>
      <p:sp>
        <p:nvSpPr>
          <p:cNvPr id="9" name="Agenda 2"/>
          <p:cNvSpPr/>
          <p:nvPr/>
        </p:nvSpPr>
        <p:spPr>
          <a:xfrm>
            <a:off x="7040880" y="2176272"/>
            <a:ext cx="310896" cy="310896"/>
          </a:xfrm>
          <a:prstGeom prst="ellipse">
            <a:avLst/>
          </a:prstGeom>
          <a:solidFill>
            <a:schemeClr val="accent1"/>
          </a:solidFill>
          <a:ln w="6350">
            <a:solidFill>
              <a:schemeClr val="accent1"/>
            </a:solidFill>
            <a:prstDash val="solid"/>
          </a:ln>
        </p:spPr>
      </p:sp>
      <p:sp>
        <p:nvSpPr>
          <p:cNvPr id="10" name="Text 8"/>
          <p:cNvSpPr txBox="1"/>
          <p:nvPr/>
        </p:nvSpPr>
        <p:spPr>
          <a:xfrm>
            <a:off x="7040880" y="21762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7543800" y="21488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Live demo (Telegram)</a:t>
            </a:r>
            <a:endParaRPr lang="en-US" sz="1800" dirty="0"/>
          </a:p>
        </p:txBody>
      </p:sp>
      <p:sp>
        <p:nvSpPr>
          <p:cNvPr id="12" name="Agenda 3"/>
          <p:cNvSpPr/>
          <p:nvPr/>
        </p:nvSpPr>
        <p:spPr>
          <a:xfrm>
            <a:off x="7040880" y="2633472"/>
            <a:ext cx="310896" cy="310896"/>
          </a:xfrm>
          <a:prstGeom prst="ellipse">
            <a:avLst/>
          </a:prstGeom>
          <a:solidFill>
            <a:schemeClr val="accent1"/>
          </a:solidFill>
          <a:ln w="6350">
            <a:solidFill>
              <a:schemeClr val="accent1"/>
            </a:solidFill>
            <a:prstDash val="solid"/>
          </a:ln>
        </p:spPr>
      </p:sp>
      <p:sp>
        <p:nvSpPr>
          <p:cNvPr id="13" name="Text 11"/>
          <p:cNvSpPr txBox="1"/>
          <p:nvPr/>
        </p:nvSpPr>
        <p:spPr>
          <a:xfrm>
            <a:off x="7040880" y="26334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7543800" y="26060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Architecture</a:t>
            </a:r>
            <a:endParaRPr lang="en-US" sz="1800" dirty="0"/>
          </a:p>
        </p:txBody>
      </p:sp>
      <p:sp>
        <p:nvSpPr>
          <p:cNvPr id="15" name="Agenda 4"/>
          <p:cNvSpPr/>
          <p:nvPr/>
        </p:nvSpPr>
        <p:spPr>
          <a:xfrm>
            <a:off x="7040880" y="3090672"/>
            <a:ext cx="310896" cy="310896"/>
          </a:xfrm>
          <a:prstGeom prst="ellipse">
            <a:avLst/>
          </a:prstGeom>
          <a:solidFill>
            <a:schemeClr val="accent1"/>
          </a:solidFill>
          <a:ln w="6350">
            <a:solidFill>
              <a:schemeClr val="accent1"/>
            </a:solidFill>
            <a:prstDash val="solid"/>
          </a:ln>
        </p:spPr>
      </p:sp>
      <p:sp>
        <p:nvSpPr>
          <p:cNvPr id="16" name="Text 14"/>
          <p:cNvSpPr txBox="1"/>
          <p:nvPr/>
        </p:nvSpPr>
        <p:spPr>
          <a:xfrm>
            <a:off x="7040880" y="30906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7543800" y="30632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Flowchart</a:t>
            </a:r>
            <a:endParaRPr lang="en-US" sz="1800" dirty="0"/>
          </a:p>
        </p:txBody>
      </p:sp>
      <p:sp>
        <p:nvSpPr>
          <p:cNvPr id="18" name="Agenda 5"/>
          <p:cNvSpPr/>
          <p:nvPr/>
        </p:nvSpPr>
        <p:spPr>
          <a:xfrm>
            <a:off x="7040880" y="3547872"/>
            <a:ext cx="310896" cy="310896"/>
          </a:xfrm>
          <a:prstGeom prst="ellipse">
            <a:avLst/>
          </a:prstGeom>
          <a:solidFill>
            <a:schemeClr val="accent1"/>
          </a:solidFill>
          <a:ln w="6350">
            <a:solidFill>
              <a:schemeClr val="accent1"/>
            </a:solidFill>
            <a:prstDash val="solid"/>
          </a:ln>
        </p:spPr>
      </p:sp>
      <p:sp>
        <p:nvSpPr>
          <p:cNvPr id="19" name="Text 17"/>
          <p:cNvSpPr txBox="1"/>
          <p:nvPr/>
        </p:nvSpPr>
        <p:spPr>
          <a:xfrm>
            <a:off x="7040880" y="35478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7543800" y="35204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A question, step by step</a:t>
            </a:r>
            <a:endParaRPr lang="en-US" sz="1800" dirty="0"/>
          </a:p>
        </p:txBody>
      </p:sp>
      <p:sp>
        <p:nvSpPr>
          <p:cNvPr id="21" name="Agenda 6"/>
          <p:cNvSpPr/>
          <p:nvPr/>
        </p:nvSpPr>
        <p:spPr>
          <a:xfrm>
            <a:off x="7040880" y="4005072"/>
            <a:ext cx="310896" cy="310896"/>
          </a:xfrm>
          <a:prstGeom prst="ellipse">
            <a:avLst/>
          </a:prstGeom>
          <a:solidFill>
            <a:schemeClr val="accent1"/>
          </a:solidFill>
          <a:ln w="6350">
            <a:solidFill>
              <a:schemeClr val="accent1"/>
            </a:solidFill>
            <a:prstDash val="solid"/>
          </a:ln>
        </p:spPr>
      </p:sp>
      <p:sp>
        <p:nvSpPr>
          <p:cNvPr id="22" name="Text 20"/>
          <p:cNvSpPr txBox="1"/>
          <p:nvPr/>
        </p:nvSpPr>
        <p:spPr>
          <a:xfrm>
            <a:off x="7040880" y="40050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7543800" y="39776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Three design decisions</a:t>
            </a:r>
            <a:endParaRPr lang="en-US" sz="1800" dirty="0"/>
          </a:p>
        </p:txBody>
      </p:sp>
      <p:sp>
        <p:nvSpPr>
          <p:cNvPr id="24" name="Agenda 7"/>
          <p:cNvSpPr/>
          <p:nvPr/>
        </p:nvSpPr>
        <p:spPr>
          <a:xfrm>
            <a:off x="7040880" y="4462272"/>
            <a:ext cx="310896" cy="310896"/>
          </a:xfrm>
          <a:prstGeom prst="ellipse">
            <a:avLst/>
          </a:prstGeom>
          <a:solidFill>
            <a:schemeClr val="accent1"/>
          </a:solidFill>
          <a:ln w="6350">
            <a:solidFill>
              <a:schemeClr val="accent1"/>
            </a:solidFill>
            <a:prstDash val="solid"/>
          </a:ln>
        </p:spPr>
      </p:sp>
      <p:sp>
        <p:nvSpPr>
          <p:cNvPr id="25" name="Text 23"/>
          <p:cNvSpPr txBox="1"/>
          <p:nvPr/>
        </p:nvSpPr>
        <p:spPr>
          <a:xfrm>
            <a:off x="7040880" y="44622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7543800" y="44348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Multi-turn and memory</a:t>
            </a:r>
            <a:endParaRPr lang="en-US" sz="1800" dirty="0"/>
          </a:p>
        </p:txBody>
      </p:sp>
      <p:sp>
        <p:nvSpPr>
          <p:cNvPr id="27" name="Agenda 8"/>
          <p:cNvSpPr/>
          <p:nvPr/>
        </p:nvSpPr>
        <p:spPr>
          <a:xfrm>
            <a:off x="7040880" y="4919472"/>
            <a:ext cx="310896" cy="310896"/>
          </a:xfrm>
          <a:prstGeom prst="ellipse">
            <a:avLst/>
          </a:prstGeom>
          <a:solidFill>
            <a:schemeClr val="accent1"/>
          </a:solidFill>
          <a:ln w="6350">
            <a:solidFill>
              <a:schemeClr val="accent1"/>
            </a:solidFill>
            <a:prstDash val="solid"/>
          </a:ln>
        </p:spPr>
      </p:sp>
      <p:sp>
        <p:nvSpPr>
          <p:cNvPr id="28" name="Text 26"/>
          <p:cNvSpPr txBox="1"/>
          <p:nvPr/>
        </p:nvSpPr>
        <p:spPr>
          <a:xfrm>
            <a:off x="7040880" y="49194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7543800" y="48920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How I evaluate it</a:t>
            </a:r>
            <a:endParaRPr lang="en-US" sz="1800" dirty="0"/>
          </a:p>
        </p:txBody>
      </p:sp>
      <p:sp>
        <p:nvSpPr>
          <p:cNvPr id="30" name="Agenda 9"/>
          <p:cNvSpPr/>
          <p:nvPr/>
        </p:nvSpPr>
        <p:spPr>
          <a:xfrm>
            <a:off x="7040880" y="5376672"/>
            <a:ext cx="310896" cy="310896"/>
          </a:xfrm>
          <a:prstGeom prst="ellipse">
            <a:avLst/>
          </a:prstGeom>
          <a:solidFill>
            <a:schemeClr val="accent1"/>
          </a:solidFill>
          <a:ln w="6350">
            <a:solidFill>
              <a:schemeClr val="accent1"/>
            </a:solidFill>
            <a:prstDash val="solid"/>
          </a:ln>
        </p:spPr>
      </p:sp>
      <p:sp>
        <p:nvSpPr>
          <p:cNvPr id="31" name="Text 29"/>
          <p:cNvSpPr txBox="1"/>
          <p:nvPr/>
        </p:nvSpPr>
        <p:spPr>
          <a:xfrm>
            <a:off x="7040880" y="5376672"/>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7543800" y="5349240"/>
            <a:ext cx="3840480" cy="36576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Limits and what's next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Why text-to-SQL needs more than a prompt</a:t>
            </a:r>
            <a:endParaRPr lang="en-US" sz="3400" dirty="0"/>
          </a:p>
        </p:txBody>
      </p:sp>
      <p:sp>
        <p:nvSpPr>
          <p:cNvPr id="3" name="Failure card 1"/>
          <p:cNvSpPr/>
          <p:nvPr/>
        </p:nvSpPr>
        <p:spPr>
          <a:xfrm>
            <a:off x="548640" y="1371600"/>
            <a:ext cx="3566160" cy="2926080"/>
          </a:xfrm>
          <a:prstGeom prst="roundRect">
            <a:avLst>
              <a:gd name="adj" fmla="val 375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4" name="Hallucinated names bg"/>
          <p:cNvSpPr/>
          <p:nvPr/>
        </p:nvSpPr>
        <p:spPr>
          <a:xfrm>
            <a:off x="822960" y="1645920"/>
            <a:ext cx="640080" cy="640080"/>
          </a:xfrm>
          <a:prstGeom prst="ellipse">
            <a:avLst/>
          </a:prstGeom>
          <a:solidFill>
            <a:schemeClr val="accent5"/>
          </a:solidFill>
          <a:ln w="6350">
            <a:solidFill>
              <a:schemeClr val="accent5"/>
            </a:solidFill>
            <a:prstDash val="solid"/>
          </a:ln>
        </p:spPr>
      </p:sp>
      <p:pic>
        <p:nvPicPr>
          <p:cNvPr id="5" name="Image 0" descr="Hallucinated names">    </p:cNvPr>
          <p:cNvPicPr>
            <a:picLocks noChangeAspect="1"/>
          </p:cNvPicPr>
          <p:nvPr/>
        </p:nvPicPr>
        <p:blipFill>
          <a:blip r:embed="rId1"/>
          <a:stretch>
            <a:fillRect/>
          </a:stretch>
        </p:blipFill>
        <p:spPr>
          <a:xfrm>
            <a:off x="976579" y="1799539"/>
            <a:ext cx="332842" cy="332842"/>
          </a:xfrm>
          <a:prstGeom prst="rect">
            <a:avLst/>
          </a:prstGeom>
        </p:spPr>
      </p:pic>
      <p:sp>
        <p:nvSpPr>
          <p:cNvPr id="6" name="Text 3"/>
          <p:cNvSpPr txBox="1"/>
          <p:nvPr/>
        </p:nvSpPr>
        <p:spPr>
          <a:xfrm>
            <a:off x="822960" y="2423160"/>
            <a:ext cx="3017520" cy="41148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Hallucinated names</a:t>
            </a:r>
            <a:endParaRPr lang="en-US" sz="2200" dirty="0"/>
          </a:p>
        </p:txBody>
      </p:sp>
      <p:sp>
        <p:nvSpPr>
          <p:cNvPr id="7" name="Text 4"/>
          <p:cNvSpPr txBox="1"/>
          <p:nvPr/>
        </p:nvSpPr>
        <p:spPr>
          <a:xfrm>
            <a:off x="822960" y="2880360"/>
            <a:ext cx="3017520" cy="12801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plausible column that does not exist. The SQL still parses, so it looks fine.</a:t>
            </a:r>
            <a:endParaRPr lang="en-US" sz="1500" dirty="0"/>
          </a:p>
        </p:txBody>
      </p:sp>
      <p:sp>
        <p:nvSpPr>
          <p:cNvPr id="8" name="Failure card 2"/>
          <p:cNvSpPr/>
          <p:nvPr/>
        </p:nvSpPr>
        <p:spPr>
          <a:xfrm>
            <a:off x="4297680" y="1371600"/>
            <a:ext cx="3566160" cy="2926080"/>
          </a:xfrm>
          <a:prstGeom prst="roundRect">
            <a:avLst>
              <a:gd name="adj" fmla="val 375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9" name="Silently wrong meaning bg"/>
          <p:cNvSpPr/>
          <p:nvPr/>
        </p:nvSpPr>
        <p:spPr>
          <a:xfrm>
            <a:off x="4572000" y="1645920"/>
            <a:ext cx="640080" cy="640080"/>
          </a:xfrm>
          <a:prstGeom prst="ellipse">
            <a:avLst/>
          </a:prstGeom>
          <a:solidFill>
            <a:schemeClr val="accent3"/>
          </a:solidFill>
          <a:ln w="6350">
            <a:solidFill>
              <a:schemeClr val="accent3"/>
            </a:solidFill>
            <a:prstDash val="solid"/>
          </a:ln>
        </p:spPr>
      </p:sp>
      <p:pic>
        <p:nvPicPr>
          <p:cNvPr id="10" name="Image 1" descr="Silently wrong meaning">    </p:cNvPr>
          <p:cNvPicPr>
            <a:picLocks noChangeAspect="1"/>
          </p:cNvPicPr>
          <p:nvPr/>
        </p:nvPicPr>
        <p:blipFill>
          <a:blip r:embed="rId2"/>
          <a:stretch>
            <a:fillRect/>
          </a:stretch>
        </p:blipFill>
        <p:spPr>
          <a:xfrm>
            <a:off x="4725619" y="1799539"/>
            <a:ext cx="332842" cy="332842"/>
          </a:xfrm>
          <a:prstGeom prst="rect">
            <a:avLst/>
          </a:prstGeom>
        </p:spPr>
      </p:pic>
      <p:sp>
        <p:nvSpPr>
          <p:cNvPr id="11" name="Text 7"/>
          <p:cNvSpPr txBox="1"/>
          <p:nvPr/>
        </p:nvSpPr>
        <p:spPr>
          <a:xfrm>
            <a:off x="4572000" y="2423160"/>
            <a:ext cx="3017520" cy="41148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Silently wrong meaning</a:t>
            </a:r>
            <a:endParaRPr lang="en-US" sz="2200" dirty="0"/>
          </a:p>
        </p:txBody>
      </p:sp>
      <p:sp>
        <p:nvSpPr>
          <p:cNvPr id="12" name="Text 8"/>
          <p:cNvSpPr txBox="1"/>
          <p:nvPr/>
        </p:nvSpPr>
        <p:spPr>
          <a:xfrm>
            <a:off x="4572000" y="2880360"/>
            <a:ext cx="3017520" cy="12801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Two columns named amount: orders.amount or payments.amount? The query runs and returns a confident wrong number.</a:t>
            </a:r>
            <a:endParaRPr lang="en-US" sz="1500" dirty="0"/>
          </a:p>
        </p:txBody>
      </p:sp>
      <p:sp>
        <p:nvSpPr>
          <p:cNvPr id="13" name="Failure card 3"/>
          <p:cNvSpPr/>
          <p:nvPr/>
        </p:nvSpPr>
        <p:spPr>
          <a:xfrm>
            <a:off x="8046720" y="1371600"/>
            <a:ext cx="3566160" cy="2926080"/>
          </a:xfrm>
          <a:prstGeom prst="roundRect">
            <a:avLst>
              <a:gd name="adj" fmla="val 375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4" name="Not reproducible bg"/>
          <p:cNvSpPr/>
          <p:nvPr/>
        </p:nvSpPr>
        <p:spPr>
          <a:xfrm>
            <a:off x="8321040" y="1645920"/>
            <a:ext cx="640080" cy="640080"/>
          </a:xfrm>
          <a:prstGeom prst="ellipse">
            <a:avLst/>
          </a:prstGeom>
          <a:solidFill>
            <a:schemeClr val="accent4"/>
          </a:solidFill>
          <a:ln w="6350">
            <a:solidFill>
              <a:schemeClr val="accent4"/>
            </a:solidFill>
            <a:prstDash val="solid"/>
          </a:ln>
        </p:spPr>
      </p:sp>
      <p:pic>
        <p:nvPicPr>
          <p:cNvPr id="15" name="Image 2" descr="Not reproducible">    </p:cNvPr>
          <p:cNvPicPr>
            <a:picLocks noChangeAspect="1"/>
          </p:cNvPicPr>
          <p:nvPr/>
        </p:nvPicPr>
        <p:blipFill>
          <a:blip r:embed="rId3"/>
          <a:stretch>
            <a:fillRect/>
          </a:stretch>
        </p:blipFill>
        <p:spPr>
          <a:xfrm>
            <a:off x="8474659" y="1799539"/>
            <a:ext cx="332842" cy="332842"/>
          </a:xfrm>
          <a:prstGeom prst="rect">
            <a:avLst/>
          </a:prstGeom>
        </p:spPr>
      </p:pic>
      <p:sp>
        <p:nvSpPr>
          <p:cNvPr id="16" name="Text 11"/>
          <p:cNvSpPr txBox="1"/>
          <p:nvPr/>
        </p:nvSpPr>
        <p:spPr>
          <a:xfrm>
            <a:off x="8321040" y="2423160"/>
            <a:ext cx="3017520" cy="41148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Not reproducible</a:t>
            </a:r>
            <a:endParaRPr lang="en-US" sz="2200" dirty="0"/>
          </a:p>
        </p:txBody>
      </p:sp>
      <p:sp>
        <p:nvSpPr>
          <p:cNvPr id="17" name="Text 12"/>
          <p:cNvSpPr txBox="1"/>
          <p:nvPr/>
        </p:nvSpPr>
        <p:spPr>
          <a:xfrm>
            <a:off x="8321040" y="2880360"/>
            <a:ext cx="3017520" cy="12801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The same question gives different SQL on different days, so a fix cannot be regression-tested.</a:t>
            </a:r>
            <a:endParaRPr lang="en-US" sz="1500" dirty="0"/>
          </a:p>
        </p:txBody>
      </p:sp>
      <p:sp>
        <p:nvSpPr>
          <p:cNvPr id="18" name="Root cause"/>
          <p:cNvSpPr/>
          <p:nvPr/>
        </p:nvSpPr>
        <p:spPr>
          <a:xfrm>
            <a:off x="548640" y="4572000"/>
            <a:ext cx="7040880" cy="1371600"/>
          </a:xfrm>
          <a:prstGeom prst="roundRect">
            <a:avLst>
              <a:gd name="adj" fmla="val 8000"/>
            </a:avLst>
          </a:prstGeom>
          <a:solidFill>
            <a:schemeClr val="accent1">
              <a:alpha val="12000"/>
            </a:schemeClr>
          </a:solidFill>
          <a:ln w="22225">
            <a:solidFill>
              <a:schemeClr val="accent1"/>
            </a:solidFill>
            <a:prstDash val="solid"/>
          </a:ln>
        </p:spPr>
      </p:sp>
      <p:sp>
        <p:nvSpPr>
          <p:cNvPr id="19" name="Text 14"/>
          <p:cNvSpPr txBox="1"/>
          <p:nvPr/>
        </p:nvSpPr>
        <p:spPr>
          <a:xfrm>
            <a:off x="822960" y="4709160"/>
            <a:ext cx="2743200" cy="32004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Root cause</a:t>
            </a:r>
            <a:endParaRPr lang="en-US" sz="1600" dirty="0"/>
          </a:p>
        </p:txBody>
      </p:sp>
      <p:sp>
        <p:nvSpPr>
          <p:cNvPr id="20" name="Text 15"/>
          <p:cNvSpPr txBox="1"/>
          <p:nvPr/>
        </p:nvSpPr>
        <p:spPr>
          <a:xfrm>
            <a:off x="822960" y="5074920"/>
            <a:ext cx="6492240" cy="77724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One prompt has to understand language, recall the schema and write SQL. Three different jobs in one step you cannot verify.</a:t>
            </a:r>
            <a:endParaRPr lang="en-US" sz="1800" dirty="0"/>
          </a:p>
        </p:txBody>
      </p:sp>
      <p:sp>
        <p:nvSpPr>
          <p:cNvPr id="21" name="Goal"/>
          <p:cNvSpPr/>
          <p:nvPr/>
        </p:nvSpPr>
        <p:spPr>
          <a:xfrm>
            <a:off x="7863840" y="4572000"/>
            <a:ext cx="3776472" cy="1371600"/>
          </a:xfrm>
          <a:prstGeom prst="roundRect">
            <a:avLst>
              <a:gd name="adj" fmla="val 8000"/>
            </a:avLst>
          </a:prstGeom>
          <a:solidFill>
            <a:schemeClr val="accent2">
              <a:alpha val="12000"/>
            </a:schemeClr>
          </a:solidFill>
          <a:ln w="22225">
            <a:solidFill>
              <a:schemeClr val="accent2"/>
            </a:solidFill>
            <a:prstDash val="solid"/>
          </a:ln>
        </p:spPr>
      </p:sp>
      <p:sp>
        <p:nvSpPr>
          <p:cNvPr id="22" name="Text 17"/>
          <p:cNvSpPr txBox="1"/>
          <p:nvPr/>
        </p:nvSpPr>
        <p:spPr>
          <a:xfrm>
            <a:off x="8138160" y="4709160"/>
            <a:ext cx="2743200" cy="320040"/>
          </a:xfrm>
          <a:prstGeom prst="rect">
            <a:avLst/>
          </a:prstGeom>
          <a:noFill/>
          <a:ln/>
        </p:spPr>
        <p:txBody>
          <a:bodyPr wrap="square" lIns="0" tIns="0" rIns="0" bIns="0" rtlCol="0" anchor="t"/>
          <a:lstStyle/>
          <a:p>
            <a:pPr indent="0" marL="0">
              <a:buNone/>
            </a:pPr>
            <a:r>
              <a:rPr lang="en-US" sz="1600" b="1" dirty="0">
                <a:solidFill>
                  <a:schemeClr val="accent2"/>
                </a:solidFill>
                <a:latin typeface="Calibri" pitchFamily="34" charset="0"/>
                <a:ea typeface="Calibri" pitchFamily="34" charset="-122"/>
                <a:cs typeface="Calibri" pitchFamily="34" charset="-120"/>
              </a:rPr>
              <a:t>Goal</a:t>
            </a:r>
            <a:endParaRPr lang="en-US" sz="1600" dirty="0"/>
          </a:p>
        </p:txBody>
      </p:sp>
      <p:sp>
        <p:nvSpPr>
          <p:cNvPr id="23" name="Text 18"/>
          <p:cNvSpPr txBox="1"/>
          <p:nvPr/>
        </p:nvSpPr>
        <p:spPr>
          <a:xfrm>
            <a:off x="8138160" y="5074920"/>
            <a:ext cx="329184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SQL you can check and explain.</a:t>
            </a:r>
            <a:endParaRPr lang="en-US" sz="1500" dirty="0"/>
          </a:p>
          <a:p>
            <a:pPr indent="0" marL="0">
              <a:buNone/>
            </a:pPr>
            <a:r>
              <a:rPr lang="en-US" sz="1500" dirty="0">
                <a:solidFill>
                  <a:schemeClr val="tx1"/>
                </a:solidFill>
                <a:latin typeface="Calibri" pitchFamily="34" charset="0"/>
                <a:ea typeface="Calibri" pitchFamily="34" charset="-122"/>
                <a:cs typeface="Calibri" pitchFamily="34" charset="-120"/>
              </a:rPr>
              <a:t>Scope: NL → validated ClickHouse SQL. Execution is out of scope.</a:t>
            </a: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Live demo: Telegram</a:t>
            </a:r>
            <a:endParaRPr lang="en-US" sz="3400" dirty="0"/>
          </a:p>
        </p:txBody>
      </p:sp>
      <p:sp>
        <p:nvSpPr>
          <p:cNvPr id="3" name="Demo step 1"/>
          <p:cNvSpPr/>
          <p:nvPr/>
        </p:nvSpPr>
        <p:spPr>
          <a:xfrm>
            <a:off x="548640" y="1527048"/>
            <a:ext cx="457200" cy="457200"/>
          </a:xfrm>
          <a:prstGeom prst="ellipse">
            <a:avLst/>
          </a:prstGeom>
          <a:solidFill>
            <a:schemeClr val="accent1"/>
          </a:solidFill>
          <a:ln w="6350">
            <a:solidFill>
              <a:schemeClr val="accent1"/>
            </a:solidFill>
            <a:prstDash val="solid"/>
          </a:ln>
        </p:spPr>
      </p:sp>
      <p:sp>
        <p:nvSpPr>
          <p:cNvPr id="4" name="Text 2"/>
          <p:cNvSpPr txBox="1"/>
          <p:nvPr/>
        </p:nvSpPr>
        <p:spPr>
          <a:xfrm>
            <a:off x="548640" y="15270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Prompt 1"/>
          <p:cNvSpPr/>
          <p:nvPr/>
        </p:nvSpPr>
        <p:spPr>
          <a:xfrm>
            <a:off x="1234440" y="1417320"/>
            <a:ext cx="5486400" cy="566928"/>
          </a:xfrm>
          <a:prstGeom prst="roundRect">
            <a:avLst>
              <a:gd name="adj" fmla="val 48387"/>
            </a:avLst>
          </a:prstGeom>
          <a:solidFill>
            <a:schemeClr val="bg1"/>
          </a:solidFill>
          <a:ln w="19050">
            <a:solidFill>
              <a:schemeClr val="accent1"/>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1463040" y="1417320"/>
            <a:ext cx="5120640" cy="56692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Revenue by region for the last 7 days</a:t>
            </a:r>
            <a:endParaRPr lang="en-US" sz="1800" dirty="0"/>
          </a:p>
        </p:txBody>
      </p:sp>
      <p:sp>
        <p:nvSpPr>
          <p:cNvPr id="7" name="Text 5"/>
          <p:cNvSpPr txBox="1"/>
          <p:nvPr/>
        </p:nvSpPr>
        <p:spPr>
          <a:xfrm>
            <a:off x="6995160" y="1417320"/>
            <a:ext cx="4663440" cy="566928"/>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Table inferred from the metric, join added, 7-day filter</a:t>
            </a:r>
            <a:endParaRPr lang="en-US" sz="1500" dirty="0"/>
          </a:p>
        </p:txBody>
      </p:sp>
      <p:sp>
        <p:nvSpPr>
          <p:cNvPr id="8" name="Demo step 2"/>
          <p:cNvSpPr/>
          <p:nvPr/>
        </p:nvSpPr>
        <p:spPr>
          <a:xfrm>
            <a:off x="548640" y="2487168"/>
            <a:ext cx="457200" cy="457200"/>
          </a:xfrm>
          <a:prstGeom prst="ellipse">
            <a:avLst/>
          </a:prstGeom>
          <a:solidFill>
            <a:schemeClr val="accent1"/>
          </a:solidFill>
          <a:ln w="6350">
            <a:solidFill>
              <a:schemeClr val="accent1"/>
            </a:solidFill>
            <a:prstDash val="solid"/>
          </a:ln>
        </p:spPr>
      </p:sp>
      <p:sp>
        <p:nvSpPr>
          <p:cNvPr id="9" name="Text 7"/>
          <p:cNvSpPr txBox="1"/>
          <p:nvPr/>
        </p:nvSpPr>
        <p:spPr>
          <a:xfrm>
            <a:off x="548640" y="24871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0" name="Prompt 2"/>
          <p:cNvSpPr/>
          <p:nvPr/>
        </p:nvSpPr>
        <p:spPr>
          <a:xfrm>
            <a:off x="1234440" y="2377440"/>
            <a:ext cx="5486400" cy="566928"/>
          </a:xfrm>
          <a:prstGeom prst="roundRect">
            <a:avLst>
              <a:gd name="adj" fmla="val 48387"/>
            </a:avLst>
          </a:prstGeom>
          <a:solidFill>
            <a:schemeClr val="bg1"/>
          </a:solidFill>
          <a:ln w="19050">
            <a:solidFill>
              <a:schemeClr val="accent1"/>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1463040" y="2377440"/>
            <a:ext cx="5120640" cy="56692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What about yesterday?</a:t>
            </a:r>
            <a:endParaRPr lang="en-US" sz="1800" dirty="0"/>
          </a:p>
        </p:txBody>
      </p:sp>
      <p:sp>
        <p:nvSpPr>
          <p:cNvPr id="12" name="Text 10"/>
          <p:cNvSpPr txBox="1"/>
          <p:nvPr/>
        </p:nvSpPr>
        <p:spPr>
          <a:xfrm>
            <a:off x="6995160" y="2377440"/>
            <a:ext cx="4663440" cy="566928"/>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Follow-up: only the time changes, the rest is inherited</a:t>
            </a:r>
            <a:endParaRPr lang="en-US" sz="1500" dirty="0"/>
          </a:p>
        </p:txBody>
      </p:sp>
      <p:sp>
        <p:nvSpPr>
          <p:cNvPr id="13" name="Demo step 3"/>
          <p:cNvSpPr/>
          <p:nvPr/>
        </p:nvSpPr>
        <p:spPr>
          <a:xfrm>
            <a:off x="548640" y="3447288"/>
            <a:ext cx="457200" cy="457200"/>
          </a:xfrm>
          <a:prstGeom prst="ellipse">
            <a:avLst/>
          </a:prstGeom>
          <a:solidFill>
            <a:schemeClr val="accent1"/>
          </a:solidFill>
          <a:ln w="6350">
            <a:solidFill>
              <a:schemeClr val="accent1"/>
            </a:solidFill>
            <a:prstDash val="solid"/>
          </a:ln>
        </p:spPr>
      </p:sp>
      <p:sp>
        <p:nvSpPr>
          <p:cNvPr id="14" name="Text 12"/>
          <p:cNvSpPr txBox="1"/>
          <p:nvPr/>
        </p:nvSpPr>
        <p:spPr>
          <a:xfrm>
            <a:off x="548640" y="34472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5" name="Prompt 3"/>
          <p:cNvSpPr/>
          <p:nvPr/>
        </p:nvSpPr>
        <p:spPr>
          <a:xfrm>
            <a:off x="1234440" y="3337560"/>
            <a:ext cx="5486400" cy="566928"/>
          </a:xfrm>
          <a:prstGeom prst="roundRect">
            <a:avLst>
              <a:gd name="adj" fmla="val 48387"/>
            </a:avLst>
          </a:prstGeom>
          <a:solidFill>
            <a:schemeClr val="bg1"/>
          </a:solidFill>
          <a:ln w="19050">
            <a:solidFill>
              <a:schemeClr val="accent1"/>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1463040" y="3337560"/>
            <a:ext cx="5120640" cy="56692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Only gold members</a:t>
            </a:r>
            <a:endParaRPr lang="en-US" sz="1800" dirty="0"/>
          </a:p>
        </p:txBody>
      </p:sp>
      <p:sp>
        <p:nvSpPr>
          <p:cNvPr id="17" name="Text 15"/>
          <p:cNvSpPr txBox="1"/>
          <p:nvPr/>
        </p:nvSpPr>
        <p:spPr>
          <a:xfrm>
            <a:off x="6995160" y="3337560"/>
            <a:ext cx="4663440" cy="566928"/>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A filter is patched in on top of the previous query</a:t>
            </a:r>
            <a:endParaRPr lang="en-US" sz="1500" dirty="0"/>
          </a:p>
        </p:txBody>
      </p:sp>
      <p:sp>
        <p:nvSpPr>
          <p:cNvPr id="18" name="Demo step 4"/>
          <p:cNvSpPr/>
          <p:nvPr/>
        </p:nvSpPr>
        <p:spPr>
          <a:xfrm>
            <a:off x="548640" y="4407408"/>
            <a:ext cx="457200" cy="457200"/>
          </a:xfrm>
          <a:prstGeom prst="ellipse">
            <a:avLst/>
          </a:prstGeom>
          <a:solidFill>
            <a:schemeClr val="accent1"/>
          </a:solidFill>
          <a:ln w="6350">
            <a:solidFill>
              <a:schemeClr val="accent1"/>
            </a:solidFill>
            <a:prstDash val="solid"/>
          </a:ln>
        </p:spPr>
      </p:sp>
      <p:sp>
        <p:nvSpPr>
          <p:cNvPr id="19" name="Text 17"/>
          <p:cNvSpPr txBox="1"/>
          <p:nvPr/>
        </p:nvSpPr>
        <p:spPr>
          <a:xfrm>
            <a:off x="548640" y="44074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0" name="Prompt 4"/>
          <p:cNvSpPr/>
          <p:nvPr/>
        </p:nvSpPr>
        <p:spPr>
          <a:xfrm>
            <a:off x="1234440" y="4297680"/>
            <a:ext cx="5486400" cy="566928"/>
          </a:xfrm>
          <a:prstGeom prst="roundRect">
            <a:avLst>
              <a:gd name="adj" fmla="val 48387"/>
            </a:avLst>
          </a:prstGeom>
          <a:solidFill>
            <a:schemeClr val="bg1"/>
          </a:solidFill>
          <a:ln w="19050">
            <a:solidFill>
              <a:schemeClr val="accent1"/>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1463040" y="4297680"/>
            <a:ext cx="5120640" cy="56692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Top 3 categories by revenue in each region</a:t>
            </a:r>
            <a:endParaRPr lang="en-US" sz="1800" dirty="0"/>
          </a:p>
        </p:txBody>
      </p:sp>
      <p:sp>
        <p:nvSpPr>
          <p:cNvPr id="22" name="Text 20"/>
          <p:cNvSpPr txBox="1"/>
          <p:nvPr/>
        </p:nvSpPr>
        <p:spPr>
          <a:xfrm>
            <a:off x="6995160" y="4297680"/>
            <a:ext cx="4663440" cy="566928"/>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Ranks categories inside each region: LIMIT 3 BY region</a:t>
            </a:r>
            <a:endParaRPr lang="en-US" sz="1500" dirty="0"/>
          </a:p>
        </p:txBody>
      </p:sp>
      <p:sp>
        <p:nvSpPr>
          <p:cNvPr id="23" name="Demo step 5"/>
          <p:cNvSpPr/>
          <p:nvPr/>
        </p:nvSpPr>
        <p:spPr>
          <a:xfrm>
            <a:off x="548640" y="5367528"/>
            <a:ext cx="457200" cy="457200"/>
          </a:xfrm>
          <a:prstGeom prst="ellipse">
            <a:avLst/>
          </a:prstGeom>
          <a:solidFill>
            <a:schemeClr val="accent3"/>
          </a:solidFill>
          <a:ln w="6350">
            <a:solidFill>
              <a:schemeClr val="accent3"/>
            </a:solidFill>
            <a:prstDash val="solid"/>
          </a:ln>
        </p:spPr>
      </p:sp>
      <p:sp>
        <p:nvSpPr>
          <p:cNvPr id="24" name="Text 22"/>
          <p:cNvSpPr txBox="1"/>
          <p:nvPr/>
        </p:nvSpPr>
        <p:spPr>
          <a:xfrm>
            <a:off x="548640" y="53675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5" name="Prompt 5"/>
          <p:cNvSpPr/>
          <p:nvPr/>
        </p:nvSpPr>
        <p:spPr>
          <a:xfrm>
            <a:off x="1234440" y="5257800"/>
            <a:ext cx="5486400" cy="566928"/>
          </a:xfrm>
          <a:prstGeom prst="roundRect">
            <a:avLst>
              <a:gd name="adj" fmla="val 48387"/>
            </a:avLst>
          </a:prstGeom>
          <a:solidFill>
            <a:schemeClr val="bg1"/>
          </a:solidFill>
          <a:ln w="19050">
            <a:solidFill>
              <a:schemeClr val="accent3"/>
            </a:solidFill>
            <a:prstDash val="solid"/>
          </a:ln>
          <a:effectLst>
            <a:outerShdw sx="100000" sy="100000" kx="0" ky="0" algn="bl" rotWithShape="0" blurRad="76200" dist="25400" dir="5400000">
              <a:srgbClr val="000000">
                <a:alpha val="12000"/>
              </a:srgbClr>
            </a:outerShdw>
          </a:effectLst>
        </p:spPr>
      </p:sp>
      <p:sp>
        <p:nvSpPr>
          <p:cNvPr id="26" name="Text 24"/>
          <p:cNvSpPr txBox="1"/>
          <p:nvPr/>
        </p:nvSpPr>
        <p:spPr>
          <a:xfrm>
            <a:off x="1463040" y="5257800"/>
            <a:ext cx="5120640" cy="56692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Total amount by channel last month</a:t>
            </a:r>
            <a:endParaRPr lang="en-US" sz="1800" dirty="0"/>
          </a:p>
        </p:txBody>
      </p:sp>
      <p:sp>
        <p:nvSpPr>
          <p:cNvPr id="27" name="Text 25"/>
          <p:cNvSpPr txBox="1"/>
          <p:nvPr/>
        </p:nvSpPr>
        <p:spPr>
          <a:xfrm>
            <a:off x="6995160" y="5257800"/>
            <a:ext cx="4663440" cy="566928"/>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Order amount or payment amount? It asks instead of guessing. Reply: payment</a:t>
            </a: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ext2SQL Agent architecture: four layers, LLM versus deterministic code">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End-to-end request flow with the ask-the-user branch and the repair loop">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One question, step by step</a:t>
            </a:r>
            <a:endParaRPr lang="en-US" sz="3400" dirty="0"/>
          </a:p>
        </p:txBody>
      </p:sp>
      <p:sp>
        <p:nvSpPr>
          <p:cNvPr id="3" name="Question pill"/>
          <p:cNvSpPr/>
          <p:nvPr/>
        </p:nvSpPr>
        <p:spPr>
          <a:xfrm>
            <a:off x="548640" y="1188720"/>
            <a:ext cx="11091672" cy="502920"/>
          </a:xfrm>
          <a:prstGeom prst="roundRect">
            <a:avLst>
              <a:gd name="adj" fmla="val 49091"/>
            </a:avLst>
          </a:prstGeom>
          <a:solidFill>
            <a:schemeClr val="bg1"/>
          </a:solidFill>
          <a:ln w="19050">
            <a:solidFill>
              <a:schemeClr val="tx1"/>
            </a:solidFill>
            <a:prstDash val="solid"/>
          </a:ln>
        </p:spPr>
      </p:sp>
      <p:sp>
        <p:nvSpPr>
          <p:cNvPr id="4" name="Text 2"/>
          <p:cNvSpPr txBox="1"/>
          <p:nvPr/>
        </p:nvSpPr>
        <p:spPr>
          <a:xfrm>
            <a:off x="822960" y="1188720"/>
            <a:ext cx="7315200" cy="50292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Revenue by region for the last 7 days</a:t>
            </a:r>
            <a:endParaRPr lang="en-US" sz="2000" dirty="0"/>
          </a:p>
        </p:txBody>
      </p:sp>
      <p:sp>
        <p:nvSpPr>
          <p:cNvPr id="5" name="Text 3"/>
          <p:cNvSpPr txBox="1"/>
          <p:nvPr/>
        </p:nvSpPr>
        <p:spPr>
          <a:xfrm>
            <a:off x="7955280" y="1188720"/>
            <a:ext cx="3474720" cy="502920"/>
          </a:xfrm>
          <a:prstGeom prst="rect">
            <a:avLst/>
          </a:prstGeom>
          <a:noFill/>
          <a:ln/>
        </p:spPr>
        <p:txBody>
          <a:bodyPr wrap="square" lIns="0" tIns="0" rIns="0" bIns="0" rtlCol="0" anchor="ctr"/>
          <a:lstStyle/>
          <a:p>
            <a:pPr algn="r" indent="0" marL="0">
              <a:buNone/>
            </a:pPr>
            <a:r>
              <a:rPr lang="en-US" sz="1500" dirty="0">
                <a:solidFill>
                  <a:schemeClr val="tx2"/>
                </a:solidFill>
                <a:latin typeface="Calibri" pitchFamily="34" charset="0"/>
                <a:ea typeface="Calibri" pitchFamily="34" charset="-122"/>
                <a:cs typeface="Calibri" pitchFamily="34" charset="-120"/>
              </a:rPr>
              <a:t>2 LLM calls · 8.4 s total</a:t>
            </a:r>
            <a:endParaRPr lang="en-US" sz="1500" dirty="0"/>
          </a:p>
        </p:txBody>
      </p:sp>
      <p:sp>
        <p:nvSpPr>
          <p:cNvPr id="6" name="Stage 1"/>
          <p:cNvSpPr/>
          <p:nvPr/>
        </p:nvSpPr>
        <p:spPr>
          <a:xfrm>
            <a:off x="548640" y="1828800"/>
            <a:ext cx="6583680" cy="914400"/>
          </a:xfrm>
          <a:prstGeom prst="roundRect">
            <a:avLst>
              <a:gd name="adj" fmla="val 12000"/>
            </a:avLst>
          </a:prstGeom>
          <a:solidFill>
            <a:schemeClr val="accent1">
              <a:alpha val="12000"/>
            </a:schemeClr>
          </a:solidFill>
          <a:ln w="22225">
            <a:solidFill>
              <a:schemeClr val="accent1"/>
            </a:solidFill>
            <a:prstDash val="solid"/>
          </a:ln>
        </p:spPr>
      </p:sp>
      <p:sp>
        <p:nvSpPr>
          <p:cNvPr id="7" name="Text 5"/>
          <p:cNvSpPr txBox="1"/>
          <p:nvPr/>
        </p:nvSpPr>
        <p:spPr>
          <a:xfrm>
            <a:off x="777240" y="1920240"/>
            <a:ext cx="393192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①  Extract</a:t>
            </a:r>
            <a:endParaRPr lang="en-US" sz="1700" dirty="0"/>
          </a:p>
        </p:txBody>
      </p:sp>
      <p:sp>
        <p:nvSpPr>
          <p:cNvPr id="8" name="Text 6"/>
          <p:cNvSpPr txBox="1"/>
          <p:nvPr/>
        </p:nvSpPr>
        <p:spPr>
          <a:xfrm>
            <a:off x="3703320" y="1920240"/>
            <a:ext cx="3200400" cy="320040"/>
          </a:xfrm>
          <a:prstGeom prst="rect">
            <a:avLst/>
          </a:prstGeom>
          <a:noFill/>
          <a:ln/>
        </p:spPr>
        <p:txBody>
          <a:bodyPr wrap="square" lIns="0" tIns="0" rIns="0" bIns="0" rtlCol="0" anchor="t"/>
          <a:lstStyle/>
          <a:p>
            <a:pPr algn="r" indent="0" marL="0">
              <a:buNone/>
            </a:pPr>
            <a:r>
              <a:rPr lang="en-US" sz="1300" b="1" dirty="0">
                <a:solidFill>
                  <a:schemeClr val="accent1"/>
                </a:solidFill>
                <a:latin typeface="Calibri" pitchFamily="34" charset="0"/>
                <a:ea typeface="Calibri" pitchFamily="34" charset="-122"/>
                <a:cs typeface="Calibri" pitchFamily="34" charset="-120"/>
              </a:rPr>
              <a:t>LLM #1 · 4.4 s</a:t>
            </a:r>
            <a:endParaRPr lang="en-US" sz="1300" dirty="0"/>
          </a:p>
        </p:txBody>
      </p:sp>
      <p:sp>
        <p:nvSpPr>
          <p:cNvPr id="9" name="Text 7"/>
          <p:cNvSpPr txBox="1"/>
          <p:nvPr/>
        </p:nvSpPr>
        <p:spPr>
          <a:xfrm>
            <a:off x="777240" y="2286000"/>
            <a:ext cx="6217920" cy="3657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metric "revenue" · dimension "region" · time "last 7 days"</a:t>
            </a:r>
            <a:endParaRPr lang="en-US" sz="1500" dirty="0"/>
          </a:p>
        </p:txBody>
      </p:sp>
      <p:sp>
        <p:nvSpPr>
          <p:cNvPr id="10" name="Stage 2"/>
          <p:cNvSpPr/>
          <p:nvPr/>
        </p:nvSpPr>
        <p:spPr>
          <a:xfrm>
            <a:off x="548640" y="2852928"/>
            <a:ext cx="6583680" cy="2011680"/>
          </a:xfrm>
          <a:prstGeom prst="roundRect">
            <a:avLst>
              <a:gd name="adj" fmla="val 5455"/>
            </a:avLst>
          </a:prstGeom>
          <a:solidFill>
            <a:schemeClr val="accent2">
              <a:alpha val="12000"/>
            </a:schemeClr>
          </a:solidFill>
          <a:ln w="22225">
            <a:solidFill>
              <a:schemeClr val="accent2"/>
            </a:solidFill>
            <a:prstDash val="solid"/>
          </a:ln>
        </p:spPr>
      </p:sp>
      <p:sp>
        <p:nvSpPr>
          <p:cNvPr id="11" name="Text 9"/>
          <p:cNvSpPr txBox="1"/>
          <p:nvPr/>
        </p:nvSpPr>
        <p:spPr>
          <a:xfrm>
            <a:off x="777240" y="2944368"/>
            <a:ext cx="393192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②  Resolve</a:t>
            </a:r>
            <a:endParaRPr lang="en-US" sz="1700" dirty="0"/>
          </a:p>
        </p:txBody>
      </p:sp>
      <p:sp>
        <p:nvSpPr>
          <p:cNvPr id="12" name="Text 10"/>
          <p:cNvSpPr txBox="1"/>
          <p:nvPr/>
        </p:nvSpPr>
        <p:spPr>
          <a:xfrm>
            <a:off x="3703320" y="2944368"/>
            <a:ext cx="3200400" cy="320040"/>
          </a:xfrm>
          <a:prstGeom prst="rect">
            <a:avLst/>
          </a:prstGeom>
          <a:noFill/>
          <a:ln/>
        </p:spPr>
        <p:txBody>
          <a:bodyPr wrap="square" lIns="0" tIns="0" rIns="0" bIns="0" rtlCol="0" anchor="t"/>
          <a:lstStyle/>
          <a:p>
            <a:pPr algn="r" indent="0" marL="0">
              <a:buNone/>
            </a:pPr>
            <a:r>
              <a:rPr lang="en-US" sz="1300" b="1" dirty="0">
                <a:solidFill>
                  <a:schemeClr val="accent2"/>
                </a:solidFill>
                <a:latin typeface="Calibri" pitchFamily="34" charset="0"/>
                <a:ea typeface="Calibri" pitchFamily="34" charset="-122"/>
                <a:cs typeface="Calibri" pitchFamily="34" charset="-120"/>
              </a:rPr>
              <a:t>code · under 0.1 s</a:t>
            </a:r>
            <a:endParaRPr lang="en-US" sz="1300" dirty="0"/>
          </a:p>
        </p:txBody>
      </p:sp>
      <p:sp>
        <p:nvSpPr>
          <p:cNvPr id="13" name="Text 11"/>
          <p:cNvSpPr txBox="1"/>
          <p:nvPr/>
        </p:nvSpPr>
        <p:spPr>
          <a:xfrm>
            <a:off x="777240" y="3310128"/>
            <a:ext cx="6217920" cy="15087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revenue → metric revenue (exact, 100) = sum(orders.amount); base table orders is inferred from it</a:t>
            </a:r>
            <a:endParaRPr lang="en-US" sz="1400" dirty="0"/>
          </a:p>
          <a:p>
            <a:pPr marL="342900" indent="-342900">
              <a:spcAft>
                <a:spcPts val="300"/>
              </a:spcAft>
              <a:buSzPct val="100000"/>
              <a:buChar char="•"/>
            </a:pPr>
            <a:r>
              <a:rPr lang="en-US" sz="1400" dirty="0">
                <a:solidFill>
                  <a:schemeClr val="tx1"/>
                </a:solidFill>
              </a:rPr>
              <a:t>region → users.region and sellers.region both score 100: a collision, resolved by join distance from orders</a:t>
            </a:r>
            <a:endParaRPr lang="en-US" sz="1400" dirty="0"/>
          </a:p>
          <a:p>
            <a:pPr marL="342900" indent="-342900">
              <a:spcAft>
                <a:spcPts val="300"/>
              </a:spcAft>
              <a:buSzPct val="100000"/>
              <a:buChar char="•"/>
            </a:pPr>
            <a:r>
              <a:rPr lang="en-US" sz="1400" dirty="0">
                <a:solidFill>
                  <a:schemeClr val="tx1"/>
                </a:solidFill>
              </a:rPr>
              <a:t>last 7 days → last_n_days, n = 7</a:t>
            </a:r>
            <a:endParaRPr lang="en-US" sz="1400" dirty="0"/>
          </a:p>
          <a:p>
            <a:pPr marL="342900" indent="-342900">
              <a:spcAft>
                <a:spcPts val="300"/>
              </a:spcAft>
              <a:buSzPct val="100000"/>
              <a:buChar char="•"/>
            </a:pPr>
            <a:r>
              <a:rPr lang="en-US" sz="1400" dirty="0">
                <a:solidFill>
                  <a:schemeClr val="tx1"/>
                </a:solidFill>
              </a:rPr>
              <a:t>join from the declared graph: orders.user_id = users.id</a:t>
            </a:r>
            <a:endParaRPr lang="en-US" sz="1400" dirty="0"/>
          </a:p>
        </p:txBody>
      </p:sp>
      <p:sp>
        <p:nvSpPr>
          <p:cNvPr id="14" name="Stage 4"/>
          <p:cNvSpPr/>
          <p:nvPr/>
        </p:nvSpPr>
        <p:spPr>
          <a:xfrm>
            <a:off x="548640" y="4974336"/>
            <a:ext cx="6583680" cy="896112"/>
          </a:xfrm>
          <a:prstGeom prst="roundRect">
            <a:avLst>
              <a:gd name="adj" fmla="val 12245"/>
            </a:avLst>
          </a:prstGeom>
          <a:solidFill>
            <a:schemeClr val="accent2">
              <a:alpha val="12000"/>
            </a:schemeClr>
          </a:solidFill>
          <a:ln w="22225">
            <a:solidFill>
              <a:schemeClr val="accent2"/>
            </a:solidFill>
            <a:prstDash val="solid"/>
          </a:ln>
        </p:spPr>
      </p:sp>
      <p:sp>
        <p:nvSpPr>
          <p:cNvPr id="15" name="Text 13"/>
          <p:cNvSpPr txBox="1"/>
          <p:nvPr/>
        </p:nvSpPr>
        <p:spPr>
          <a:xfrm>
            <a:off x="777240" y="5047488"/>
            <a:ext cx="393192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④  Validate</a:t>
            </a:r>
            <a:endParaRPr lang="en-US" sz="1700" dirty="0"/>
          </a:p>
        </p:txBody>
      </p:sp>
      <p:sp>
        <p:nvSpPr>
          <p:cNvPr id="16" name="Text 14"/>
          <p:cNvSpPr txBox="1"/>
          <p:nvPr/>
        </p:nvSpPr>
        <p:spPr>
          <a:xfrm>
            <a:off x="3703320" y="5047488"/>
            <a:ext cx="3200400" cy="320040"/>
          </a:xfrm>
          <a:prstGeom prst="rect">
            <a:avLst/>
          </a:prstGeom>
          <a:noFill/>
          <a:ln/>
        </p:spPr>
        <p:txBody>
          <a:bodyPr wrap="square" lIns="0" tIns="0" rIns="0" bIns="0" rtlCol="0" anchor="t"/>
          <a:lstStyle/>
          <a:p>
            <a:pPr algn="r" indent="0" marL="0">
              <a:buNone/>
            </a:pPr>
            <a:r>
              <a:rPr lang="en-US" sz="1300" b="1" dirty="0">
                <a:solidFill>
                  <a:schemeClr val="accent2"/>
                </a:solidFill>
                <a:latin typeface="Calibri" pitchFamily="34" charset="0"/>
                <a:ea typeface="Calibri" pitchFamily="34" charset="-122"/>
                <a:cs typeface="Calibri" pitchFamily="34" charset="-120"/>
              </a:rPr>
              <a:t>code</a:t>
            </a:r>
            <a:endParaRPr lang="en-US" sz="1300" dirty="0"/>
          </a:p>
        </p:txBody>
      </p:sp>
      <p:sp>
        <p:nvSpPr>
          <p:cNvPr id="17" name="Text 15"/>
          <p:cNvSpPr txBox="1"/>
          <p:nvPr/>
        </p:nvSpPr>
        <p:spPr>
          <a:xfrm>
            <a:off x="777240" y="5376672"/>
            <a:ext cx="6217920" cy="4572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Read-only · joins match declared edges · metric expression present · warning: large_scan, ~82M rows (static estimate)</a:t>
            </a:r>
            <a:endParaRPr lang="en-US" sz="1350" dirty="0"/>
          </a:p>
        </p:txBody>
      </p:sp>
      <p:sp>
        <p:nvSpPr>
          <p:cNvPr id="18" name="Stage 3"/>
          <p:cNvSpPr/>
          <p:nvPr/>
        </p:nvSpPr>
        <p:spPr>
          <a:xfrm>
            <a:off x="7360920" y="1828800"/>
            <a:ext cx="4279392" cy="4014216"/>
          </a:xfrm>
          <a:prstGeom prst="roundRect">
            <a:avLst>
              <a:gd name="adj" fmla="val 2733"/>
            </a:avLst>
          </a:prstGeom>
          <a:solidFill>
            <a:schemeClr val="accent1">
              <a:alpha val="12000"/>
            </a:schemeClr>
          </a:solidFill>
          <a:ln w="22225">
            <a:solidFill>
              <a:schemeClr val="accent1"/>
            </a:solidFill>
            <a:prstDash val="solid"/>
          </a:ln>
        </p:spPr>
      </p:sp>
      <p:sp>
        <p:nvSpPr>
          <p:cNvPr id="19" name="Text 17"/>
          <p:cNvSpPr txBox="1"/>
          <p:nvPr/>
        </p:nvSpPr>
        <p:spPr>
          <a:xfrm>
            <a:off x="7589520" y="1920240"/>
            <a:ext cx="2377440" cy="32004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③  Generate</a:t>
            </a:r>
            <a:endParaRPr lang="en-US" sz="1700" dirty="0"/>
          </a:p>
        </p:txBody>
      </p:sp>
      <p:sp>
        <p:nvSpPr>
          <p:cNvPr id="20" name="Text 18"/>
          <p:cNvSpPr txBox="1"/>
          <p:nvPr/>
        </p:nvSpPr>
        <p:spPr>
          <a:xfrm>
            <a:off x="9418320" y="1920240"/>
            <a:ext cx="2011680" cy="320040"/>
          </a:xfrm>
          <a:prstGeom prst="rect">
            <a:avLst/>
          </a:prstGeom>
          <a:noFill/>
          <a:ln/>
        </p:spPr>
        <p:txBody>
          <a:bodyPr wrap="square" lIns="0" tIns="0" rIns="0" bIns="0" rtlCol="0" anchor="t"/>
          <a:lstStyle/>
          <a:p>
            <a:pPr algn="r" indent="0" marL="0">
              <a:buNone/>
            </a:pPr>
            <a:r>
              <a:rPr lang="en-US" sz="1300" b="1" dirty="0">
                <a:solidFill>
                  <a:schemeClr val="accent1"/>
                </a:solidFill>
                <a:latin typeface="Calibri" pitchFamily="34" charset="0"/>
                <a:ea typeface="Calibri" pitchFamily="34" charset="-122"/>
                <a:cs typeface="Calibri" pitchFamily="34" charset="-120"/>
              </a:rPr>
              <a:t>LLM #2 · names pinned</a:t>
            </a:r>
            <a:endParaRPr lang="en-US" sz="1300" dirty="0"/>
          </a:p>
        </p:txBody>
      </p:sp>
      <p:sp>
        <p:nvSpPr>
          <p:cNvPr id="21" name="Text 19"/>
          <p:cNvSpPr txBox="1"/>
          <p:nvPr/>
        </p:nvSpPr>
        <p:spPr>
          <a:xfrm>
            <a:off x="7589520" y="2377440"/>
            <a:ext cx="3840480" cy="24688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SELECT users.region AS region,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sum(orders.amount) AS revenue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FROM orders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JOIN users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ON orders.user_id = users.id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WHERE orders.created_at &gt;=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now() - INTERVAL '7' DAY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GROUP BY users.region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LIMIT 100</a:t>
            </a:r>
            <a:endParaRPr lang="en-US" sz="1300" dirty="0"/>
          </a:p>
        </p:txBody>
      </p:sp>
      <p:sp>
        <p:nvSpPr>
          <p:cNvPr id="22" name="Text 20"/>
          <p:cNvSpPr txBox="1"/>
          <p:nvPr/>
        </p:nvSpPr>
        <p:spPr>
          <a:xfrm>
            <a:off x="7589520" y="4846320"/>
            <a:ext cx="3840480" cy="91440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The prompt pins the base table, the metric expression, the join condition and the time filter. The model only assembles structure.</a:t>
            </a:r>
            <a:endParaRPr lang="en-US" sz="1350" dirty="0"/>
          </a:p>
        </p:txBody>
      </p:sp>
      <p:sp>
        <p:nvSpPr>
          <p:cNvPr id="23" name="Chip 1"/>
          <p:cNvSpPr/>
          <p:nvPr/>
        </p:nvSpPr>
        <p:spPr>
          <a:xfrm>
            <a:off x="548640" y="5943600"/>
            <a:ext cx="3611880" cy="457200"/>
          </a:xfrm>
          <a:prstGeom prst="roundRect">
            <a:avLst>
              <a:gd name="adj" fmla="val 50000"/>
            </a:avLst>
          </a:prstGeom>
          <a:solidFill>
            <a:schemeClr val="accent2">
              <a:alpha val="15000"/>
            </a:schemeClr>
          </a:solidFill>
          <a:ln w="12700">
            <a:solidFill>
              <a:schemeClr val="accent2"/>
            </a:solidFill>
            <a:prstDash val="solid"/>
          </a:ln>
        </p:spPr>
      </p:sp>
      <p:sp>
        <p:nvSpPr>
          <p:cNvPr id="24" name="Text 22"/>
          <p:cNvSpPr txBox="1"/>
          <p:nvPr/>
        </p:nvSpPr>
        <p:spPr>
          <a:xfrm>
            <a:off x="685800" y="5943600"/>
            <a:ext cx="3337560" cy="45720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GMV → revenue (alias, 100)</a:t>
            </a:r>
            <a:endParaRPr lang="en-US" sz="1250" dirty="0"/>
          </a:p>
        </p:txBody>
      </p:sp>
      <p:sp>
        <p:nvSpPr>
          <p:cNvPr id="25" name="Chip 2"/>
          <p:cNvSpPr/>
          <p:nvPr/>
        </p:nvSpPr>
        <p:spPr>
          <a:xfrm>
            <a:off x="4297680" y="5943600"/>
            <a:ext cx="3611880" cy="457200"/>
          </a:xfrm>
          <a:prstGeom prst="roundRect">
            <a:avLst>
              <a:gd name="adj" fmla="val 50000"/>
            </a:avLst>
          </a:prstGeom>
          <a:solidFill>
            <a:schemeClr val="accent3">
              <a:alpha val="15000"/>
            </a:schemeClr>
          </a:solidFill>
          <a:ln w="12700">
            <a:solidFill>
              <a:schemeClr val="accent3"/>
            </a:solidFill>
            <a:prstDash val="solid"/>
          </a:ln>
        </p:spPr>
      </p:sp>
      <p:sp>
        <p:nvSpPr>
          <p:cNvPr id="26" name="Text 24"/>
          <p:cNvSpPr txBox="1"/>
          <p:nvPr/>
        </p:nvSpPr>
        <p:spPr>
          <a:xfrm>
            <a:off x="4434840" y="5943600"/>
            <a:ext cx="3337560" cy="45720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region, no base table → ask: users.region or sellers.region</a:t>
            </a:r>
            <a:endParaRPr lang="en-US" sz="1250" dirty="0"/>
          </a:p>
        </p:txBody>
      </p:sp>
      <p:sp>
        <p:nvSpPr>
          <p:cNvPr id="27" name="Chip 3"/>
          <p:cNvSpPr/>
          <p:nvPr/>
        </p:nvSpPr>
        <p:spPr>
          <a:xfrm>
            <a:off x="8046720" y="5943600"/>
            <a:ext cx="3611880" cy="457200"/>
          </a:xfrm>
          <a:prstGeom prst="roundRect">
            <a:avLst>
              <a:gd name="adj" fmla="val 50000"/>
            </a:avLst>
          </a:prstGeom>
          <a:solidFill>
            <a:schemeClr val="accent3">
              <a:alpha val="15000"/>
            </a:schemeClr>
          </a:solidFill>
          <a:ln w="12700">
            <a:solidFill>
              <a:schemeClr val="accent3"/>
            </a:solidFill>
            <a:prstDash val="solid"/>
          </a:ln>
        </p:spPr>
      </p:sp>
      <p:sp>
        <p:nvSpPr>
          <p:cNvPr id="28" name="Text 26"/>
          <p:cNvSpPr txBox="1"/>
          <p:nvPr/>
        </p:nvSpPr>
        <p:spPr>
          <a:xfrm>
            <a:off x="8183880" y="5943600"/>
            <a:ext cx="3337560" cy="45720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customer lifetime value → avg_order_value 85.5, below 90 → ask</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Decision 1: layers, not one prompt</a:t>
            </a:r>
            <a:endParaRPr lang="en-US" sz="3400" dirty="0"/>
          </a:p>
        </p:txBody>
      </p:sp>
      <p:sp>
        <p:nvSpPr>
          <p:cNvPr id="3" name="One prompt"/>
          <p:cNvSpPr/>
          <p:nvPr/>
        </p:nvSpPr>
        <p:spPr>
          <a:xfrm>
            <a:off x="548640" y="1325880"/>
            <a:ext cx="5394960" cy="1325880"/>
          </a:xfrm>
          <a:prstGeom prst="roundRect">
            <a:avLst>
              <a:gd name="adj" fmla="val 8276"/>
            </a:avLst>
          </a:prstGeom>
          <a:solidFill>
            <a:schemeClr val="accent5">
              <a:alpha val="12000"/>
            </a:schemeClr>
          </a:solidFill>
          <a:ln w="22225">
            <a:solidFill>
              <a:schemeClr val="accent5"/>
            </a:solidFill>
            <a:prstDash val="solid"/>
          </a:ln>
        </p:spPr>
      </p:sp>
      <p:sp>
        <p:nvSpPr>
          <p:cNvPr id="4" name="Text 2"/>
          <p:cNvSpPr txBox="1"/>
          <p:nvPr/>
        </p:nvSpPr>
        <p:spPr>
          <a:xfrm>
            <a:off x="822960" y="1417320"/>
            <a:ext cx="4846320" cy="365760"/>
          </a:xfrm>
          <a:prstGeom prst="rect">
            <a:avLst/>
          </a:prstGeom>
          <a:noFill/>
          <a:ln/>
        </p:spPr>
        <p:txBody>
          <a:bodyPr wrap="square" lIns="0" tIns="0" rIns="0" bIns="0" rtlCol="0" anchor="t"/>
          <a:lstStyle/>
          <a:p>
            <a:pPr indent="0" marL="0">
              <a:buNone/>
            </a:pPr>
            <a:r>
              <a:rPr lang="en-US" sz="2000" b="1" dirty="0">
                <a:solidFill>
                  <a:schemeClr val="accent5"/>
                </a:solidFill>
                <a:latin typeface="Calibri" pitchFamily="34" charset="0"/>
                <a:ea typeface="Calibri" pitchFamily="34" charset="-122"/>
                <a:cs typeface="Calibri" pitchFamily="34" charset="-120"/>
              </a:rPr>
              <a:t>One prompt</a:t>
            </a:r>
            <a:endParaRPr lang="en-US" sz="2000" dirty="0"/>
          </a:p>
        </p:txBody>
      </p:sp>
      <p:sp>
        <p:nvSpPr>
          <p:cNvPr id="5" name="Text 3"/>
          <p:cNvSpPr txBox="1"/>
          <p:nvPr/>
        </p:nvSpPr>
        <p:spPr>
          <a:xfrm>
            <a:off x="822960" y="1828800"/>
            <a:ext cx="484632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Understand language + recall schema + write SQL in a single step. When the answer is wrong, you cannot tell which job failed.</a:t>
            </a:r>
            <a:endParaRPr lang="en-US" sz="1500" dirty="0"/>
          </a:p>
        </p:txBody>
      </p:sp>
      <p:sp>
        <p:nvSpPr>
          <p:cNvPr id="6" name="Four layers"/>
          <p:cNvSpPr/>
          <p:nvPr/>
        </p:nvSpPr>
        <p:spPr>
          <a:xfrm>
            <a:off x="6245352" y="1325880"/>
            <a:ext cx="5394960" cy="1325880"/>
          </a:xfrm>
          <a:prstGeom prst="roundRect">
            <a:avLst>
              <a:gd name="adj" fmla="val 8276"/>
            </a:avLst>
          </a:prstGeom>
          <a:solidFill>
            <a:schemeClr val="accent2">
              <a:alpha val="12000"/>
            </a:schemeClr>
          </a:solidFill>
          <a:ln w="22225">
            <a:solidFill>
              <a:schemeClr val="accent2"/>
            </a:solidFill>
            <a:prstDash val="solid"/>
          </a:ln>
        </p:spPr>
      </p:sp>
      <p:sp>
        <p:nvSpPr>
          <p:cNvPr id="7" name="Text 5"/>
          <p:cNvSpPr txBox="1"/>
          <p:nvPr/>
        </p:nvSpPr>
        <p:spPr>
          <a:xfrm>
            <a:off x="6519672" y="1417320"/>
            <a:ext cx="4846320" cy="365760"/>
          </a:xfrm>
          <a:prstGeom prst="rect">
            <a:avLst/>
          </a:prstGeom>
          <a:noFill/>
          <a:ln/>
        </p:spPr>
        <p:txBody>
          <a:bodyPr wrap="square" lIns="0" tIns="0" rIns="0" bIns="0" rtlCol="0" anchor="t"/>
          <a:lstStyle/>
          <a:p>
            <a:pPr indent="0" marL="0">
              <a:buNone/>
            </a:pPr>
            <a:r>
              <a:rPr lang="en-US" sz="2000" b="1" dirty="0">
                <a:solidFill>
                  <a:schemeClr val="accent2"/>
                </a:solidFill>
                <a:latin typeface="Calibri" pitchFamily="34" charset="0"/>
                <a:ea typeface="Calibri" pitchFamily="34" charset="-122"/>
                <a:cs typeface="Calibri" pitchFamily="34" charset="-120"/>
              </a:rPr>
              <a:t>Four layers</a:t>
            </a:r>
            <a:endParaRPr lang="en-US" sz="2000" dirty="0"/>
          </a:p>
        </p:txBody>
      </p:sp>
      <p:sp>
        <p:nvSpPr>
          <p:cNvPr id="8" name="Text 6"/>
          <p:cNvSpPr txBox="1"/>
          <p:nvPr/>
        </p:nvSpPr>
        <p:spPr>
          <a:xfrm>
            <a:off x="6519672" y="1828800"/>
            <a:ext cx="484632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Each stage has a contract and its own tests. The LLM appears twice, in constrained positions.</a:t>
            </a:r>
            <a:endParaRPr lang="en-US" sz="1500" dirty="0"/>
          </a:p>
        </p:txBody>
      </p:sp>
      <p:sp>
        <p:nvSpPr>
          <p:cNvPr id="9" name="Testability card"/>
          <p:cNvSpPr/>
          <p:nvPr/>
        </p:nvSpPr>
        <p:spPr>
          <a:xfrm>
            <a:off x="548640" y="2971800"/>
            <a:ext cx="3566160" cy="2331720"/>
          </a:xfrm>
          <a:prstGeom prst="roundRect">
            <a:avLst>
              <a:gd name="adj" fmla="val 4706"/>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0" name="Testability bg"/>
          <p:cNvSpPr/>
          <p:nvPr/>
        </p:nvSpPr>
        <p:spPr>
          <a:xfrm>
            <a:off x="822960" y="3246120"/>
            <a:ext cx="594360" cy="594360"/>
          </a:xfrm>
          <a:prstGeom prst="ellipse">
            <a:avLst/>
          </a:prstGeom>
          <a:solidFill>
            <a:schemeClr val="accent1"/>
          </a:solidFill>
          <a:ln w="6350">
            <a:solidFill>
              <a:schemeClr val="accent1"/>
            </a:solidFill>
            <a:prstDash val="solid"/>
          </a:ln>
        </p:spPr>
      </p:sp>
      <p:pic>
        <p:nvPicPr>
          <p:cNvPr id="11" name="Image 0" descr="Testability">    </p:cNvPr>
          <p:cNvPicPr>
            <a:picLocks noChangeAspect="1"/>
          </p:cNvPicPr>
          <p:nvPr/>
        </p:nvPicPr>
        <p:blipFill>
          <a:blip r:embed="rId1"/>
          <a:stretch>
            <a:fillRect/>
          </a:stretch>
        </p:blipFill>
        <p:spPr>
          <a:xfrm>
            <a:off x="965606" y="3388766"/>
            <a:ext cx="309067" cy="309067"/>
          </a:xfrm>
          <a:prstGeom prst="rect">
            <a:avLst/>
          </a:prstGeom>
        </p:spPr>
      </p:pic>
      <p:sp>
        <p:nvSpPr>
          <p:cNvPr id="12" name="Text 9"/>
          <p:cNvSpPr txBox="1"/>
          <p:nvPr/>
        </p:nvSpPr>
        <p:spPr>
          <a:xfrm>
            <a:off x="1600200" y="3319272"/>
            <a:ext cx="2286000" cy="4572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Testability</a:t>
            </a:r>
            <a:endParaRPr lang="en-US" sz="2000" dirty="0"/>
          </a:p>
        </p:txBody>
      </p:sp>
      <p:sp>
        <p:nvSpPr>
          <p:cNvPr id="13" name="Text 10"/>
          <p:cNvSpPr txBox="1"/>
          <p:nvPr/>
        </p:nvSpPr>
        <p:spPr>
          <a:xfrm>
            <a:off x="822960" y="4069080"/>
            <a:ext cx="3017520" cy="11430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wrong answer traces to one stage. The mocked-LLM suite pins everything except the two LLM calls.</a:t>
            </a:r>
            <a:endParaRPr lang="en-US" sz="1500" dirty="0"/>
          </a:p>
        </p:txBody>
      </p:sp>
      <p:sp>
        <p:nvSpPr>
          <p:cNvPr id="14" name="Control card"/>
          <p:cNvSpPr/>
          <p:nvPr/>
        </p:nvSpPr>
        <p:spPr>
          <a:xfrm>
            <a:off x="4297680" y="2971800"/>
            <a:ext cx="3566160" cy="2331720"/>
          </a:xfrm>
          <a:prstGeom prst="roundRect">
            <a:avLst>
              <a:gd name="adj" fmla="val 4706"/>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5" name="Control bg"/>
          <p:cNvSpPr/>
          <p:nvPr/>
        </p:nvSpPr>
        <p:spPr>
          <a:xfrm>
            <a:off x="4572000" y="3246120"/>
            <a:ext cx="594360" cy="594360"/>
          </a:xfrm>
          <a:prstGeom prst="ellipse">
            <a:avLst/>
          </a:prstGeom>
          <a:solidFill>
            <a:schemeClr val="accent2"/>
          </a:solidFill>
          <a:ln w="6350">
            <a:solidFill>
              <a:schemeClr val="accent2"/>
            </a:solidFill>
            <a:prstDash val="solid"/>
          </a:ln>
        </p:spPr>
      </p:sp>
      <p:pic>
        <p:nvPicPr>
          <p:cNvPr id="16" name="Image 1" descr="Control">    </p:cNvPr>
          <p:cNvPicPr>
            <a:picLocks noChangeAspect="1"/>
          </p:cNvPicPr>
          <p:nvPr/>
        </p:nvPicPr>
        <p:blipFill>
          <a:blip r:embed="rId2"/>
          <a:stretch>
            <a:fillRect/>
          </a:stretch>
        </p:blipFill>
        <p:spPr>
          <a:xfrm>
            <a:off x="4714646" y="3388766"/>
            <a:ext cx="309067" cy="309067"/>
          </a:xfrm>
          <a:prstGeom prst="rect">
            <a:avLst/>
          </a:prstGeom>
        </p:spPr>
      </p:pic>
      <p:sp>
        <p:nvSpPr>
          <p:cNvPr id="17" name="Text 13"/>
          <p:cNvSpPr txBox="1"/>
          <p:nvPr/>
        </p:nvSpPr>
        <p:spPr>
          <a:xfrm>
            <a:off x="5349240" y="3319272"/>
            <a:ext cx="2286000" cy="4572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Control</a:t>
            </a:r>
            <a:endParaRPr lang="en-US" sz="2000" dirty="0"/>
          </a:p>
        </p:txBody>
      </p:sp>
      <p:sp>
        <p:nvSpPr>
          <p:cNvPr id="18" name="Text 14"/>
          <p:cNvSpPr txBox="1"/>
          <p:nvPr/>
        </p:nvSpPr>
        <p:spPr>
          <a:xfrm>
            <a:off x="4572000" y="4069080"/>
            <a:ext cx="3017520" cy="11430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Definitions such as revenue live in the catalog. The model receives them and never improvises them.</a:t>
            </a:r>
            <a:endParaRPr lang="en-US" sz="1500" dirty="0"/>
          </a:p>
        </p:txBody>
      </p:sp>
      <p:sp>
        <p:nvSpPr>
          <p:cNvPr id="19" name="Cost of change card"/>
          <p:cNvSpPr/>
          <p:nvPr/>
        </p:nvSpPr>
        <p:spPr>
          <a:xfrm>
            <a:off x="8046720" y="2971800"/>
            <a:ext cx="3566160" cy="2331720"/>
          </a:xfrm>
          <a:prstGeom prst="roundRect">
            <a:avLst>
              <a:gd name="adj" fmla="val 4706"/>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0" name="Cost of change bg"/>
          <p:cNvSpPr/>
          <p:nvPr/>
        </p:nvSpPr>
        <p:spPr>
          <a:xfrm>
            <a:off x="8321040" y="3246120"/>
            <a:ext cx="594360" cy="594360"/>
          </a:xfrm>
          <a:prstGeom prst="ellipse">
            <a:avLst/>
          </a:prstGeom>
          <a:solidFill>
            <a:schemeClr val="accent4"/>
          </a:solidFill>
          <a:ln w="6350">
            <a:solidFill>
              <a:schemeClr val="accent4"/>
            </a:solidFill>
            <a:prstDash val="solid"/>
          </a:ln>
        </p:spPr>
      </p:sp>
      <p:pic>
        <p:nvPicPr>
          <p:cNvPr id="21" name="Image 2" descr="Cost of change">    </p:cNvPr>
          <p:cNvPicPr>
            <a:picLocks noChangeAspect="1"/>
          </p:cNvPicPr>
          <p:nvPr/>
        </p:nvPicPr>
        <p:blipFill>
          <a:blip r:embed="rId3"/>
          <a:stretch>
            <a:fillRect/>
          </a:stretch>
        </p:blipFill>
        <p:spPr>
          <a:xfrm>
            <a:off x="8463686" y="3388766"/>
            <a:ext cx="309067" cy="309067"/>
          </a:xfrm>
          <a:prstGeom prst="rect">
            <a:avLst/>
          </a:prstGeom>
        </p:spPr>
      </p:pic>
      <p:sp>
        <p:nvSpPr>
          <p:cNvPr id="22" name="Text 17"/>
          <p:cNvSpPr txBox="1"/>
          <p:nvPr/>
        </p:nvSpPr>
        <p:spPr>
          <a:xfrm>
            <a:off x="9098280" y="3319272"/>
            <a:ext cx="2286000" cy="4572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Cost of change</a:t>
            </a:r>
            <a:endParaRPr lang="en-US" sz="2000" dirty="0"/>
          </a:p>
        </p:txBody>
      </p:sp>
      <p:sp>
        <p:nvSpPr>
          <p:cNvPr id="23" name="Text 18"/>
          <p:cNvSpPr txBox="1"/>
          <p:nvPr/>
        </p:nvSpPr>
        <p:spPr>
          <a:xfrm>
            <a:off x="8321040" y="4069080"/>
            <a:ext cx="3017520" cy="11430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new metric is a row in a YAML file, not a prompt re-tune that might break something else.</a:t>
            </a:r>
            <a:endParaRPr lang="en-US" sz="1500" dirty="0"/>
          </a:p>
        </p:txBody>
      </p:sp>
      <p:sp>
        <p:nvSpPr>
          <p:cNvPr id="24" name="Trade-off"/>
          <p:cNvSpPr/>
          <p:nvPr/>
        </p:nvSpPr>
        <p:spPr>
          <a:xfrm>
            <a:off x="548640" y="5532120"/>
            <a:ext cx="11091672" cy="640080"/>
          </a:xfrm>
          <a:prstGeom prst="roundRect">
            <a:avLst>
              <a:gd name="adj" fmla="val 17143"/>
            </a:avLst>
          </a:prstGeom>
          <a:solidFill>
            <a:schemeClr val="accent3">
              <a:alpha val="12000"/>
            </a:schemeClr>
          </a:solidFill>
          <a:ln w="22225">
            <a:solidFill>
              <a:schemeClr val="accent3"/>
            </a:solidFill>
            <a:prstDash val="solid"/>
          </a:ln>
        </p:spPr>
      </p:sp>
      <p:sp>
        <p:nvSpPr>
          <p:cNvPr id="25" name="Text 20"/>
          <p:cNvSpPr txBox="1"/>
          <p:nvPr/>
        </p:nvSpPr>
        <p:spPr>
          <a:xfrm>
            <a:off x="822960" y="5532120"/>
            <a:ext cx="10515600" cy="6400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Trade-off:  two LLM calls, about 8–11 s per question. I accepted that for reliability and for answers I can explain.</a:t>
            </a:r>
            <a:endParaRPr lang="en-US" sz="16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Decision 2: a declared schema, not guesswork</a:t>
            </a:r>
            <a:endParaRPr lang="en-US" sz="3400" dirty="0"/>
          </a:p>
        </p:txBody>
      </p:sp>
      <p:sp>
        <p:nvSpPr>
          <p:cNvPr id="3" name="tables.yaml card"/>
          <p:cNvSpPr/>
          <p:nvPr/>
        </p:nvSpPr>
        <p:spPr>
          <a:xfrm>
            <a:off x="548640" y="1280160"/>
            <a:ext cx="4846320" cy="1371600"/>
          </a:xfrm>
          <a:prstGeom prst="roundRect">
            <a:avLst>
              <a:gd name="adj" fmla="val 8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4" name="tables.yaml bg"/>
          <p:cNvSpPr/>
          <p:nvPr/>
        </p:nvSpPr>
        <p:spPr>
          <a:xfrm>
            <a:off x="777240" y="1508760"/>
            <a:ext cx="548640" cy="548640"/>
          </a:xfrm>
          <a:prstGeom prst="ellipse">
            <a:avLst/>
          </a:prstGeom>
          <a:solidFill>
            <a:schemeClr val="accent1"/>
          </a:solidFill>
          <a:ln w="6350">
            <a:solidFill>
              <a:schemeClr val="accent1"/>
            </a:solidFill>
            <a:prstDash val="solid"/>
          </a:ln>
        </p:spPr>
      </p:sp>
      <p:pic>
        <p:nvPicPr>
          <p:cNvPr id="5" name="Image 0" descr="tables.yaml">    </p:cNvPr>
          <p:cNvPicPr>
            <a:picLocks noChangeAspect="1"/>
          </p:cNvPicPr>
          <p:nvPr/>
        </p:nvPicPr>
        <p:blipFill>
          <a:blip r:embed="rId1"/>
          <a:stretch>
            <a:fillRect/>
          </a:stretch>
        </p:blipFill>
        <p:spPr>
          <a:xfrm>
            <a:off x="908914" y="1640434"/>
            <a:ext cx="285293" cy="285293"/>
          </a:xfrm>
          <a:prstGeom prst="rect">
            <a:avLst/>
          </a:prstGeom>
        </p:spPr>
      </p:pic>
      <p:sp>
        <p:nvSpPr>
          <p:cNvPr id="6" name="Text 3"/>
          <p:cNvSpPr txBox="1"/>
          <p:nvPr/>
        </p:nvSpPr>
        <p:spPr>
          <a:xfrm>
            <a:off x="1508760" y="1389888"/>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tables.yaml</a:t>
            </a:r>
            <a:endParaRPr lang="en-US" sz="1800" dirty="0"/>
          </a:p>
        </p:txBody>
      </p:sp>
      <p:sp>
        <p:nvSpPr>
          <p:cNvPr id="7" name="Text 4"/>
          <p:cNvSpPr txBox="1"/>
          <p:nvPr/>
        </p:nvSpPr>
        <p:spPr>
          <a:xfrm>
            <a:off x="1508760" y="1783080"/>
            <a:ext cx="3749040" cy="8229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Physical catalog (Unity Catalog mock): columns, types, comments, row counts, sampled enum values</a:t>
            </a:r>
            <a:endParaRPr lang="en-US" sz="1350" dirty="0"/>
          </a:p>
        </p:txBody>
      </p:sp>
      <p:sp>
        <p:nvSpPr>
          <p:cNvPr id="8" name="metrics.yaml card"/>
          <p:cNvSpPr/>
          <p:nvPr/>
        </p:nvSpPr>
        <p:spPr>
          <a:xfrm>
            <a:off x="548640" y="2761488"/>
            <a:ext cx="4846320" cy="1371600"/>
          </a:xfrm>
          <a:prstGeom prst="roundRect">
            <a:avLst>
              <a:gd name="adj" fmla="val 8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9" name="metrics.yaml bg"/>
          <p:cNvSpPr/>
          <p:nvPr/>
        </p:nvSpPr>
        <p:spPr>
          <a:xfrm>
            <a:off x="777240" y="2990088"/>
            <a:ext cx="548640" cy="548640"/>
          </a:xfrm>
          <a:prstGeom prst="ellipse">
            <a:avLst/>
          </a:prstGeom>
          <a:solidFill>
            <a:schemeClr val="accent2"/>
          </a:solidFill>
          <a:ln w="6350">
            <a:solidFill>
              <a:schemeClr val="accent2"/>
            </a:solidFill>
            <a:prstDash val="solid"/>
          </a:ln>
        </p:spPr>
      </p:sp>
      <p:pic>
        <p:nvPicPr>
          <p:cNvPr id="10" name="Image 1" descr="metrics.yaml">    </p:cNvPr>
          <p:cNvPicPr>
            <a:picLocks noChangeAspect="1"/>
          </p:cNvPicPr>
          <p:nvPr/>
        </p:nvPicPr>
        <p:blipFill>
          <a:blip r:embed="rId2"/>
          <a:stretch>
            <a:fillRect/>
          </a:stretch>
        </p:blipFill>
        <p:spPr>
          <a:xfrm>
            <a:off x="908914" y="3121762"/>
            <a:ext cx="285293" cy="285293"/>
          </a:xfrm>
          <a:prstGeom prst="rect">
            <a:avLst/>
          </a:prstGeom>
        </p:spPr>
      </p:pic>
      <p:sp>
        <p:nvSpPr>
          <p:cNvPr id="11" name="Text 7"/>
          <p:cNvSpPr txBox="1"/>
          <p:nvPr/>
        </p:nvSpPr>
        <p:spPr>
          <a:xfrm>
            <a:off x="1508760" y="2871216"/>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metrics.yaml</a:t>
            </a:r>
            <a:endParaRPr lang="en-US" sz="1800" dirty="0"/>
          </a:p>
        </p:txBody>
      </p:sp>
      <p:sp>
        <p:nvSpPr>
          <p:cNvPr id="12" name="Text 8"/>
          <p:cNvSpPr txBox="1"/>
          <p:nvPr/>
        </p:nvSpPr>
        <p:spPr>
          <a:xfrm>
            <a:off x="1508760" y="3264408"/>
            <a:ext cx="3749040" cy="8229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Semantic layer (LookML mock): metric definitions, the join graph, default time dimensions</a:t>
            </a:r>
            <a:endParaRPr lang="en-US" sz="1350" dirty="0"/>
          </a:p>
        </p:txBody>
      </p:sp>
      <p:sp>
        <p:nvSpPr>
          <p:cNvPr id="13" name="aliases.yaml card"/>
          <p:cNvSpPr/>
          <p:nvPr/>
        </p:nvSpPr>
        <p:spPr>
          <a:xfrm>
            <a:off x="548640" y="4242816"/>
            <a:ext cx="4846320" cy="1371600"/>
          </a:xfrm>
          <a:prstGeom prst="roundRect">
            <a:avLst>
              <a:gd name="adj" fmla="val 8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4" name="aliases.yaml bg"/>
          <p:cNvSpPr/>
          <p:nvPr/>
        </p:nvSpPr>
        <p:spPr>
          <a:xfrm>
            <a:off x="777240" y="4471416"/>
            <a:ext cx="548640" cy="548640"/>
          </a:xfrm>
          <a:prstGeom prst="ellipse">
            <a:avLst/>
          </a:prstGeom>
          <a:solidFill>
            <a:schemeClr val="accent4"/>
          </a:solidFill>
          <a:ln w="6350">
            <a:solidFill>
              <a:schemeClr val="accent4"/>
            </a:solidFill>
            <a:prstDash val="solid"/>
          </a:ln>
        </p:spPr>
      </p:sp>
      <p:pic>
        <p:nvPicPr>
          <p:cNvPr id="15" name="Image 2" descr="aliases.yaml">    </p:cNvPr>
          <p:cNvPicPr>
            <a:picLocks noChangeAspect="1"/>
          </p:cNvPicPr>
          <p:nvPr/>
        </p:nvPicPr>
        <p:blipFill>
          <a:blip r:embed="rId3"/>
          <a:stretch>
            <a:fillRect/>
          </a:stretch>
        </p:blipFill>
        <p:spPr>
          <a:xfrm>
            <a:off x="908914" y="4603090"/>
            <a:ext cx="285293" cy="285293"/>
          </a:xfrm>
          <a:prstGeom prst="rect">
            <a:avLst/>
          </a:prstGeom>
        </p:spPr>
      </p:pic>
      <p:sp>
        <p:nvSpPr>
          <p:cNvPr id="16" name="Text 11"/>
          <p:cNvSpPr txBox="1"/>
          <p:nvPr/>
        </p:nvSpPr>
        <p:spPr>
          <a:xfrm>
            <a:off x="1508760" y="4352544"/>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aliases.yaml</a:t>
            </a:r>
            <a:endParaRPr lang="en-US" sz="1800" dirty="0"/>
          </a:p>
        </p:txBody>
      </p:sp>
      <p:sp>
        <p:nvSpPr>
          <p:cNvPr id="17" name="Text 12"/>
          <p:cNvSpPr txBox="1"/>
          <p:nvPr/>
        </p:nvSpPr>
        <p:spPr>
          <a:xfrm>
            <a:off x="1508760" y="4745736"/>
            <a:ext cx="3749040" cy="8229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Alias table: entity, alias, source, confidence, status. LLM-generated aliases start as pending</a:t>
            </a:r>
            <a:endParaRPr lang="en-US" sz="1350" dirty="0"/>
          </a:p>
        </p:txBody>
      </p:sp>
      <p:sp>
        <p:nvSpPr>
          <p:cNvPr id="18" name="Formula"/>
          <p:cNvSpPr/>
          <p:nvPr/>
        </p:nvSpPr>
        <p:spPr>
          <a:xfrm>
            <a:off x="5669280" y="1280160"/>
            <a:ext cx="5971032" cy="777240"/>
          </a:xfrm>
          <a:prstGeom prst="roundRect">
            <a:avLst>
              <a:gd name="adj" fmla="val 14118"/>
            </a:avLst>
          </a:prstGeom>
          <a:solidFill>
            <a:schemeClr val="accent1">
              <a:alpha val="12000"/>
            </a:schemeClr>
          </a:solidFill>
          <a:ln w="22225">
            <a:solidFill>
              <a:schemeClr val="accent1"/>
            </a:solidFill>
            <a:prstDash val="solid"/>
          </a:ln>
        </p:spPr>
      </p:sp>
      <p:sp>
        <p:nvSpPr>
          <p:cNvPr id="19" name="Text 14"/>
          <p:cNvSpPr txBox="1"/>
          <p:nvPr/>
        </p:nvSpPr>
        <p:spPr>
          <a:xfrm>
            <a:off x="5852160" y="1280160"/>
            <a:ext cx="5577840" cy="777240"/>
          </a:xfrm>
          <a:prstGeom prst="rect">
            <a:avLst/>
          </a:prstGeom>
          <a:noFill/>
          <a:ln/>
        </p:spPr>
        <p:txBody>
          <a:bodyPr wrap="square" lIns="0" tIns="0" rIns="0" bIns="0" rtlCol="0" anchor="ctr"/>
          <a:lstStyle/>
          <a:p>
            <a:pPr algn="ctr" indent="0" marL="0">
              <a:buNone/>
            </a:pPr>
            <a:r>
              <a:rPr lang="en-US" sz="2200" b="1" dirty="0">
                <a:solidFill>
                  <a:schemeClr val="accent1"/>
                </a:solidFill>
                <a:latin typeface="Calibri" pitchFamily="34" charset="0"/>
                <a:ea typeface="Calibri" pitchFamily="34" charset="-122"/>
                <a:cs typeface="Calibri" pitchFamily="34" charset="-120"/>
              </a:rPr>
              <a:t>score = alias similarity × source confidence</a:t>
            </a:r>
            <a:endParaRPr lang="en-US" sz="2200" dirty="0"/>
          </a:p>
        </p:txBody>
      </p:sp>
      <p:sp>
        <p:nvSpPr>
          <p:cNvPr id="20" name="Chart card"/>
          <p:cNvSpPr/>
          <p:nvPr/>
        </p:nvSpPr>
        <p:spPr>
          <a:xfrm>
            <a:off x="5669280" y="2194560"/>
            <a:ext cx="3246120" cy="2697480"/>
          </a:xfrm>
          <a:prstGeom prst="roundRect">
            <a:avLst>
              <a:gd name="adj" fmla="val 4068"/>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1" name="Text 16"/>
          <p:cNvSpPr txBox="1"/>
          <p:nvPr/>
        </p:nvSpPr>
        <p:spPr>
          <a:xfrm>
            <a:off x="5852160" y="2267712"/>
            <a:ext cx="292608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Source confidence</a:t>
            </a:r>
            <a:endParaRPr lang="en-US" sz="1400" dirty="0"/>
          </a:p>
        </p:txBody>
      </p:sp>
      <p:graphicFrame>
        <p:nvGraphicFramePr>
          <p:cNvPr id="22" name="Chart 0" descr=""/>
          <p:cNvGraphicFramePr/>
          <p:nvPr/>
        </p:nvGraphicFramePr>
        <p:xfrm>
          <a:off x="5715000" y="2514600"/>
          <a:ext cx="3154680" cy="2331720"/>
        </p:xfrm>
        <a:graphic xmlns:a="http://schemas.openxmlformats.org/drawingml/2006/main">
          <a:graphicData uri="http://schemas.openxmlformats.org/drawingml/2006/chart">
            <c:chart xmlns:c="http://schemas.openxmlformats.org/drawingml/2006/chart" r:id="rId4"/>
          </a:graphicData>
        </a:graphic>
      </p:graphicFrame>
      <p:sp>
        <p:nvSpPr>
          <p:cNvPr id="23" name="Bands card"/>
          <p:cNvSpPr/>
          <p:nvPr/>
        </p:nvSpPr>
        <p:spPr>
          <a:xfrm>
            <a:off x="9052560" y="2194560"/>
            <a:ext cx="2587752" cy="2697480"/>
          </a:xfrm>
          <a:prstGeom prst="roundRect">
            <a:avLst>
              <a:gd name="adj" fmla="val 424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4" name="Text 18"/>
          <p:cNvSpPr txBox="1"/>
          <p:nvPr/>
        </p:nvSpPr>
        <p:spPr>
          <a:xfrm>
            <a:off x="9235440" y="2267712"/>
            <a:ext cx="22860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Decision bands</a:t>
            </a:r>
            <a:endParaRPr lang="en-US" sz="1400" dirty="0"/>
          </a:p>
        </p:txBody>
      </p:sp>
      <p:sp>
        <p:nvSpPr>
          <p:cNvPr id="25" name="Band 1"/>
          <p:cNvSpPr/>
          <p:nvPr/>
        </p:nvSpPr>
        <p:spPr>
          <a:xfrm>
            <a:off x="9235440" y="2651760"/>
            <a:ext cx="2221992" cy="621792"/>
          </a:xfrm>
          <a:prstGeom prst="roundRect">
            <a:avLst>
              <a:gd name="adj" fmla="val 14706"/>
            </a:avLst>
          </a:prstGeom>
          <a:solidFill>
            <a:schemeClr val="accent2">
              <a:alpha val="15000"/>
            </a:schemeClr>
          </a:solidFill>
          <a:ln w="15875">
            <a:solidFill>
              <a:schemeClr val="accent2"/>
            </a:solidFill>
            <a:prstDash val="solid"/>
          </a:ln>
        </p:spPr>
      </p:sp>
      <p:sp>
        <p:nvSpPr>
          <p:cNvPr id="26" name="Text 20"/>
          <p:cNvSpPr txBox="1"/>
          <p:nvPr/>
        </p:nvSpPr>
        <p:spPr>
          <a:xfrm>
            <a:off x="9326880" y="2697480"/>
            <a:ext cx="20574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 80  accept</a:t>
            </a:r>
            <a:endParaRPr lang="en-US" sz="1400" dirty="0"/>
          </a:p>
        </p:txBody>
      </p:sp>
      <p:sp>
        <p:nvSpPr>
          <p:cNvPr id="27" name="Text 21"/>
          <p:cNvSpPr txBox="1"/>
          <p:nvPr/>
        </p:nvSpPr>
        <p:spPr>
          <a:xfrm>
            <a:off x="9326880" y="2980944"/>
            <a:ext cx="2057400" cy="25603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(metric ≥ 90)</a:t>
            </a:r>
            <a:endParaRPr lang="en-US" sz="1200" dirty="0"/>
          </a:p>
        </p:txBody>
      </p:sp>
      <p:sp>
        <p:nvSpPr>
          <p:cNvPr id="28" name="Band 2"/>
          <p:cNvSpPr/>
          <p:nvPr/>
        </p:nvSpPr>
        <p:spPr>
          <a:xfrm>
            <a:off x="9235440" y="3364992"/>
            <a:ext cx="2221992" cy="621792"/>
          </a:xfrm>
          <a:prstGeom prst="roundRect">
            <a:avLst>
              <a:gd name="adj" fmla="val 14706"/>
            </a:avLst>
          </a:prstGeom>
          <a:solidFill>
            <a:schemeClr val="accent3">
              <a:alpha val="15000"/>
            </a:schemeClr>
          </a:solidFill>
          <a:ln w="15875">
            <a:solidFill>
              <a:schemeClr val="accent3"/>
            </a:solidFill>
            <a:prstDash val="solid"/>
          </a:ln>
        </p:spPr>
      </p:sp>
      <p:sp>
        <p:nvSpPr>
          <p:cNvPr id="29" name="Text 23"/>
          <p:cNvSpPr txBox="1"/>
          <p:nvPr/>
        </p:nvSpPr>
        <p:spPr>
          <a:xfrm>
            <a:off x="9326880" y="3410712"/>
            <a:ext cx="20574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40–80  ask</a:t>
            </a:r>
            <a:endParaRPr lang="en-US" sz="1400" dirty="0"/>
          </a:p>
        </p:txBody>
      </p:sp>
      <p:sp>
        <p:nvSpPr>
          <p:cNvPr id="30" name="Text 24"/>
          <p:cNvSpPr txBox="1"/>
          <p:nvPr/>
        </p:nvSpPr>
        <p:spPr>
          <a:xfrm>
            <a:off x="9326880" y="3694176"/>
            <a:ext cx="2057400" cy="25603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or tie within 10</a:t>
            </a:r>
            <a:endParaRPr lang="en-US" sz="1200" dirty="0"/>
          </a:p>
        </p:txBody>
      </p:sp>
      <p:sp>
        <p:nvSpPr>
          <p:cNvPr id="31" name="Band 3"/>
          <p:cNvSpPr/>
          <p:nvPr/>
        </p:nvSpPr>
        <p:spPr>
          <a:xfrm>
            <a:off x="9235440" y="4078224"/>
            <a:ext cx="2221992" cy="621792"/>
          </a:xfrm>
          <a:prstGeom prst="roundRect">
            <a:avLst>
              <a:gd name="adj" fmla="val 14706"/>
            </a:avLst>
          </a:prstGeom>
          <a:solidFill>
            <a:schemeClr val="accent5">
              <a:alpha val="15000"/>
            </a:schemeClr>
          </a:solidFill>
          <a:ln w="15875">
            <a:solidFill>
              <a:schemeClr val="accent5"/>
            </a:solidFill>
            <a:prstDash val="solid"/>
          </a:ln>
        </p:spPr>
      </p:sp>
      <p:sp>
        <p:nvSpPr>
          <p:cNvPr id="32" name="Text 26"/>
          <p:cNvSpPr txBox="1"/>
          <p:nvPr/>
        </p:nvSpPr>
        <p:spPr>
          <a:xfrm>
            <a:off x="9326880" y="4123944"/>
            <a:ext cx="2057400" cy="274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&lt; 40  drop</a:t>
            </a:r>
            <a:endParaRPr lang="en-US" sz="1400" dirty="0"/>
          </a:p>
        </p:txBody>
      </p:sp>
      <p:sp>
        <p:nvSpPr>
          <p:cNvPr id="33" name="Text 27"/>
          <p:cNvSpPr txBox="1"/>
          <p:nvPr/>
        </p:nvSpPr>
        <p:spPr>
          <a:xfrm>
            <a:off x="9326880" y="4407408"/>
            <a:ext cx="2057400" cy="256032"/>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and explain</a:t>
            </a:r>
            <a:endParaRPr lang="en-US" sz="1200" dirty="0"/>
          </a:p>
        </p:txBody>
      </p:sp>
      <p:sp>
        <p:nvSpPr>
          <p:cNvPr id="34" name="Collision"/>
          <p:cNvSpPr/>
          <p:nvPr/>
        </p:nvSpPr>
        <p:spPr>
          <a:xfrm>
            <a:off x="5669280" y="5029200"/>
            <a:ext cx="5971032" cy="1143000"/>
          </a:xfrm>
          <a:prstGeom prst="roundRect">
            <a:avLst>
              <a:gd name="adj" fmla="val 9600"/>
            </a:avLst>
          </a:prstGeom>
          <a:solidFill>
            <a:schemeClr val="accent3">
              <a:alpha val="12000"/>
            </a:schemeClr>
          </a:solidFill>
          <a:ln w="22225">
            <a:solidFill>
              <a:schemeClr val="accent3"/>
            </a:solidFill>
            <a:prstDash val="solid"/>
          </a:ln>
        </p:spPr>
      </p:sp>
      <p:sp>
        <p:nvSpPr>
          <p:cNvPr id="35" name="Text 29"/>
          <p:cNvSpPr txBox="1"/>
          <p:nvPr/>
        </p:nvSpPr>
        <p:spPr>
          <a:xfrm>
            <a:off x="5852160" y="5102352"/>
            <a:ext cx="5577840" cy="320040"/>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Same alias, two entities?</a:t>
            </a:r>
            <a:endParaRPr lang="en-US" sz="1600" dirty="0"/>
          </a:p>
        </p:txBody>
      </p:sp>
      <p:sp>
        <p:nvSpPr>
          <p:cNvPr id="36" name="Text 30"/>
          <p:cNvSpPr txBox="1"/>
          <p:nvPr/>
        </p:nvSpPr>
        <p:spPr>
          <a:xfrm>
            <a:off x="5852160" y="5440680"/>
            <a:ext cx="557784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region exists in users and sellers. With a base table, join distance decides. Otherwise the system asks. Never first-wins.</a:t>
            </a:r>
            <a:endParaRPr lang="en-US" sz="1400" dirty="0"/>
          </a:p>
        </p:txBody>
      </p:sp>
      <p:sp>
        <p:nvSpPr>
          <p:cNvPr id="37" name="Sources note"/>
          <p:cNvSpPr/>
          <p:nvPr/>
        </p:nvSpPr>
        <p:spPr>
          <a:xfrm>
            <a:off x="548640" y="5760720"/>
            <a:ext cx="4846320" cy="411480"/>
          </a:xfrm>
          <a:prstGeom prst="roundRect">
            <a:avLst>
              <a:gd name="adj" fmla="val 26667"/>
            </a:avLst>
          </a:prstGeom>
          <a:solidFill>
            <a:schemeClr val="accent2">
              <a:alpha val="12000"/>
            </a:schemeClr>
          </a:solidFill>
          <a:ln w="22225">
            <a:solidFill>
              <a:schemeClr val="accent2"/>
            </a:solidFill>
            <a:prstDash val="solid"/>
          </a:ln>
        </p:spPr>
      </p:sp>
      <p:sp>
        <p:nvSpPr>
          <p:cNvPr id="38" name="Text 32"/>
          <p:cNvSpPr txBox="1"/>
          <p:nvPr/>
        </p:nvSpPr>
        <p:spPr>
          <a:xfrm>
            <a:off x="731520" y="5760720"/>
            <a:ext cx="448056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Joins and metric definitions are declared, never guessed.</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Decision 3: AST guardrails</a:t>
            </a:r>
            <a:endParaRPr lang="en-US" sz="3400" dirty="0"/>
          </a:p>
        </p:txBody>
      </p:sp>
      <p:sp>
        <p:nvSpPr>
          <p:cNvPr id="3" name="Chain 1"/>
          <p:cNvSpPr/>
          <p:nvPr/>
        </p:nvSpPr>
        <p:spPr>
          <a:xfrm>
            <a:off x="548640" y="1280160"/>
            <a:ext cx="2377440" cy="594360"/>
          </a:xfrm>
          <a:prstGeom prst="roundRect">
            <a:avLst>
              <a:gd name="adj" fmla="val 46154"/>
            </a:avLst>
          </a:prstGeom>
          <a:solidFill>
            <a:schemeClr val="accent1">
              <a:alpha val="15000"/>
            </a:schemeClr>
          </a:solidFill>
          <a:ln w="19050">
            <a:solidFill>
              <a:schemeClr val="accent1"/>
            </a:solidFill>
            <a:prstDash val="solid"/>
          </a:ln>
        </p:spPr>
      </p:sp>
      <p:sp>
        <p:nvSpPr>
          <p:cNvPr id="4" name="Text 2"/>
          <p:cNvSpPr txBox="1"/>
          <p:nvPr/>
        </p:nvSpPr>
        <p:spPr>
          <a:xfrm>
            <a:off x="548640" y="1280160"/>
            <a:ext cx="237744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Generated SQL</a:t>
            </a:r>
            <a:endParaRPr lang="en-US" sz="1600" dirty="0"/>
          </a:p>
        </p:txBody>
      </p:sp>
      <p:sp>
        <p:nvSpPr>
          <p:cNvPr id="5" name="Chain arrow 1"/>
          <p:cNvSpPr/>
          <p:nvPr/>
        </p:nvSpPr>
        <p:spPr>
          <a:xfrm>
            <a:off x="2971800" y="1435608"/>
            <a:ext cx="347472" cy="274320"/>
          </a:xfrm>
          <a:prstGeom prst="rightArrow">
            <a:avLst/>
          </a:prstGeom>
          <a:solidFill>
            <a:schemeClr val="tx1"/>
          </a:solidFill>
          <a:ln w="6350">
            <a:solidFill>
              <a:schemeClr val="tx1"/>
            </a:solidFill>
            <a:prstDash val="solid"/>
          </a:ln>
        </p:spPr>
      </p:sp>
      <p:sp>
        <p:nvSpPr>
          <p:cNvPr id="6" name="Chain 2"/>
          <p:cNvSpPr/>
          <p:nvPr/>
        </p:nvSpPr>
        <p:spPr>
          <a:xfrm>
            <a:off x="3383280" y="1280160"/>
            <a:ext cx="2377440" cy="594360"/>
          </a:xfrm>
          <a:prstGeom prst="roundRect">
            <a:avLst>
              <a:gd name="adj" fmla="val 46154"/>
            </a:avLst>
          </a:prstGeom>
          <a:solidFill>
            <a:schemeClr val="accent2">
              <a:alpha val="15000"/>
            </a:schemeClr>
          </a:solidFill>
          <a:ln w="19050">
            <a:solidFill>
              <a:schemeClr val="accent2"/>
            </a:solidFill>
            <a:prstDash val="solid"/>
          </a:ln>
        </p:spPr>
      </p:sp>
      <p:sp>
        <p:nvSpPr>
          <p:cNvPr id="7" name="Text 5"/>
          <p:cNvSpPr txBox="1"/>
          <p:nvPr/>
        </p:nvSpPr>
        <p:spPr>
          <a:xfrm>
            <a:off x="3383280" y="1280160"/>
            <a:ext cx="237744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Parse with sqlglot</a:t>
            </a:r>
            <a:endParaRPr lang="en-US" sz="1600" dirty="0"/>
          </a:p>
        </p:txBody>
      </p:sp>
      <p:sp>
        <p:nvSpPr>
          <p:cNvPr id="8" name="Chain arrow 2"/>
          <p:cNvSpPr/>
          <p:nvPr/>
        </p:nvSpPr>
        <p:spPr>
          <a:xfrm>
            <a:off x="5806440" y="1435608"/>
            <a:ext cx="347472" cy="274320"/>
          </a:xfrm>
          <a:prstGeom prst="rightArrow">
            <a:avLst/>
          </a:prstGeom>
          <a:solidFill>
            <a:schemeClr val="tx1"/>
          </a:solidFill>
          <a:ln w="6350">
            <a:solidFill>
              <a:schemeClr val="tx1"/>
            </a:solidFill>
            <a:prstDash val="solid"/>
          </a:ln>
        </p:spPr>
      </p:sp>
      <p:sp>
        <p:nvSpPr>
          <p:cNvPr id="9" name="Chain 3"/>
          <p:cNvSpPr/>
          <p:nvPr/>
        </p:nvSpPr>
        <p:spPr>
          <a:xfrm>
            <a:off x="6217920" y="1280160"/>
            <a:ext cx="2377440" cy="594360"/>
          </a:xfrm>
          <a:prstGeom prst="roundRect">
            <a:avLst>
              <a:gd name="adj" fmla="val 46154"/>
            </a:avLst>
          </a:prstGeom>
          <a:solidFill>
            <a:schemeClr val="accent2">
              <a:alpha val="15000"/>
            </a:schemeClr>
          </a:solidFill>
          <a:ln w="19050">
            <a:solidFill>
              <a:schemeClr val="accent2"/>
            </a:solidFill>
            <a:prstDash val="solid"/>
          </a:ln>
        </p:spPr>
      </p:sp>
      <p:sp>
        <p:nvSpPr>
          <p:cNvPr id="10" name="Text 8"/>
          <p:cNvSpPr txBox="1"/>
          <p:nvPr/>
        </p:nvSpPr>
        <p:spPr>
          <a:xfrm>
            <a:off x="6217920" y="1280160"/>
            <a:ext cx="237744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Run the checks</a:t>
            </a:r>
            <a:endParaRPr lang="en-US" sz="1600" dirty="0"/>
          </a:p>
        </p:txBody>
      </p:sp>
      <p:sp>
        <p:nvSpPr>
          <p:cNvPr id="11" name="Chain arrow 3"/>
          <p:cNvSpPr/>
          <p:nvPr/>
        </p:nvSpPr>
        <p:spPr>
          <a:xfrm>
            <a:off x="8641080" y="1435608"/>
            <a:ext cx="347472" cy="274320"/>
          </a:xfrm>
          <a:prstGeom prst="rightArrow">
            <a:avLst/>
          </a:prstGeom>
          <a:solidFill>
            <a:schemeClr val="tx1"/>
          </a:solidFill>
          <a:ln w="6350">
            <a:solidFill>
              <a:schemeClr val="tx1"/>
            </a:solidFill>
            <a:prstDash val="solid"/>
          </a:ln>
        </p:spPr>
      </p:sp>
      <p:sp>
        <p:nvSpPr>
          <p:cNvPr id="12" name="Chain 4"/>
          <p:cNvSpPr/>
          <p:nvPr/>
        </p:nvSpPr>
        <p:spPr>
          <a:xfrm>
            <a:off x="9052560" y="1280160"/>
            <a:ext cx="2377440" cy="594360"/>
          </a:xfrm>
          <a:prstGeom prst="roundRect">
            <a:avLst>
              <a:gd name="adj" fmla="val 46154"/>
            </a:avLst>
          </a:prstGeom>
          <a:solidFill>
            <a:schemeClr val="tx1">
              <a:alpha val="15000"/>
            </a:schemeClr>
          </a:solidFill>
          <a:ln w="19050">
            <a:solidFill>
              <a:schemeClr val="tx1"/>
            </a:solidFill>
            <a:prstDash val="solid"/>
          </a:ln>
        </p:spPr>
      </p:sp>
      <p:sp>
        <p:nvSpPr>
          <p:cNvPr id="13" name="Text 11"/>
          <p:cNvSpPr txBox="1"/>
          <p:nvPr/>
        </p:nvSpPr>
        <p:spPr>
          <a:xfrm>
            <a:off x="9052560" y="1280160"/>
            <a:ext cx="2377440" cy="59436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Answer</a:t>
            </a:r>
            <a:endParaRPr lang="en-US" sz="1600" dirty="0"/>
          </a:p>
        </p:txBody>
      </p:sp>
      <p:sp>
        <p:nvSpPr>
          <p:cNvPr id="14" name="Syntax guard card"/>
          <p:cNvSpPr/>
          <p:nvPr/>
        </p:nvSpPr>
        <p:spPr>
          <a:xfrm>
            <a:off x="548640" y="2194560"/>
            <a:ext cx="3566160" cy="2743200"/>
          </a:xfrm>
          <a:prstGeom prst="roundRect">
            <a:avLst>
              <a:gd name="adj" fmla="val 4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5" name="Syntax guard bg"/>
          <p:cNvSpPr/>
          <p:nvPr/>
        </p:nvSpPr>
        <p:spPr>
          <a:xfrm>
            <a:off x="777240" y="2377440"/>
            <a:ext cx="502920" cy="502920"/>
          </a:xfrm>
          <a:prstGeom prst="ellipse">
            <a:avLst/>
          </a:prstGeom>
          <a:solidFill>
            <a:schemeClr val="accent2"/>
          </a:solidFill>
          <a:ln w="6350">
            <a:solidFill>
              <a:schemeClr val="accent2"/>
            </a:solidFill>
            <a:prstDash val="solid"/>
          </a:ln>
        </p:spPr>
      </p:sp>
      <p:pic>
        <p:nvPicPr>
          <p:cNvPr id="16" name="Image 0" descr="Syntax guard">    </p:cNvPr>
          <p:cNvPicPr>
            <a:picLocks noChangeAspect="1"/>
          </p:cNvPicPr>
          <p:nvPr/>
        </p:nvPicPr>
        <p:blipFill>
          <a:blip r:embed="rId1"/>
          <a:stretch>
            <a:fillRect/>
          </a:stretch>
        </p:blipFill>
        <p:spPr>
          <a:xfrm>
            <a:off x="897941" y="2498141"/>
            <a:ext cx="261518" cy="261518"/>
          </a:xfrm>
          <a:prstGeom prst="rect">
            <a:avLst/>
          </a:prstGeom>
        </p:spPr>
      </p:pic>
      <p:sp>
        <p:nvSpPr>
          <p:cNvPr id="17" name="Text 14"/>
          <p:cNvSpPr txBox="1"/>
          <p:nvPr/>
        </p:nvSpPr>
        <p:spPr>
          <a:xfrm>
            <a:off x="1463040" y="2377440"/>
            <a:ext cx="2468880" cy="502920"/>
          </a:xfrm>
          <a:prstGeom prst="rect">
            <a:avLst/>
          </a:prstGeom>
          <a:noFill/>
          <a:ln/>
        </p:spPr>
        <p:txBody>
          <a:bodyPr wrap="square" lIns="0" tIns="0" rIns="0" bIns="0" rtlCol="0" anchor="ctr"/>
          <a:lstStyle/>
          <a:p>
            <a:pPr indent="0" marL="0">
              <a:buNone/>
            </a:pPr>
            <a:r>
              <a:rPr lang="en-US" sz="1900" b="1" dirty="0">
                <a:solidFill>
                  <a:schemeClr val="tx1"/>
                </a:solidFill>
                <a:latin typeface="Calibri" pitchFamily="34" charset="0"/>
                <a:ea typeface="Calibri" pitchFamily="34" charset="-122"/>
                <a:cs typeface="Calibri" pitchFamily="34" charset="-120"/>
              </a:rPr>
              <a:t>Syntax guard</a:t>
            </a:r>
            <a:endParaRPr lang="en-US" sz="1900" dirty="0"/>
          </a:p>
        </p:txBody>
      </p:sp>
      <p:sp>
        <p:nvSpPr>
          <p:cNvPr id="18" name="Text 15"/>
          <p:cNvSpPr txBox="1"/>
          <p:nvPr/>
        </p:nvSpPr>
        <p:spPr>
          <a:xfrm>
            <a:off x="822960" y="3063240"/>
            <a:ext cx="306324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One read-only statement</a:t>
            </a:r>
            <a:endParaRPr lang="en-US" sz="1500" dirty="0"/>
          </a:p>
          <a:p>
            <a:pPr marL="342900" indent="-342900">
              <a:spcAft>
                <a:spcPts val="600"/>
              </a:spcAft>
              <a:buSzPct val="100000"/>
              <a:buChar char="•"/>
            </a:pPr>
            <a:r>
              <a:rPr lang="en-US" sz="1500" dirty="0">
                <a:solidFill>
                  <a:schemeClr val="tx1"/>
                </a:solidFill>
              </a:rPr>
              <a:t>Tables on the whitelist</a:t>
            </a:r>
            <a:endParaRPr lang="en-US" sz="1500" dirty="0"/>
          </a:p>
          <a:p>
            <a:pPr marL="342900" indent="-342900">
              <a:spcAft>
                <a:spcPts val="600"/>
              </a:spcAft>
              <a:buSzPct val="100000"/>
              <a:buChar char="•"/>
            </a:pPr>
            <a:r>
              <a:rPr lang="en-US" sz="1500" dirty="0">
                <a:solidFill>
                  <a:schemeClr val="tx1"/>
                </a:solidFill>
              </a:rPr>
              <a:t>LIMIT injected if missing</a:t>
            </a:r>
            <a:endParaRPr lang="en-US" sz="1500" dirty="0"/>
          </a:p>
        </p:txBody>
      </p:sp>
      <p:sp>
        <p:nvSpPr>
          <p:cNvPr id="19" name="Semantic checks card"/>
          <p:cNvSpPr/>
          <p:nvPr/>
        </p:nvSpPr>
        <p:spPr>
          <a:xfrm>
            <a:off x="4297680" y="2194560"/>
            <a:ext cx="3566160" cy="2743200"/>
          </a:xfrm>
          <a:prstGeom prst="roundRect">
            <a:avLst>
              <a:gd name="adj" fmla="val 4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0" name="Semantic checks bg"/>
          <p:cNvSpPr/>
          <p:nvPr/>
        </p:nvSpPr>
        <p:spPr>
          <a:xfrm>
            <a:off x="4526280" y="2377440"/>
            <a:ext cx="502920" cy="502920"/>
          </a:xfrm>
          <a:prstGeom prst="ellipse">
            <a:avLst/>
          </a:prstGeom>
          <a:solidFill>
            <a:schemeClr val="accent1"/>
          </a:solidFill>
          <a:ln w="6350">
            <a:solidFill>
              <a:schemeClr val="accent1"/>
            </a:solidFill>
            <a:prstDash val="solid"/>
          </a:ln>
        </p:spPr>
      </p:sp>
      <p:pic>
        <p:nvPicPr>
          <p:cNvPr id="21" name="Image 1" descr="Semantic checks">    </p:cNvPr>
          <p:cNvPicPr>
            <a:picLocks noChangeAspect="1"/>
          </p:cNvPicPr>
          <p:nvPr/>
        </p:nvPicPr>
        <p:blipFill>
          <a:blip r:embed="rId2"/>
          <a:stretch>
            <a:fillRect/>
          </a:stretch>
        </p:blipFill>
        <p:spPr>
          <a:xfrm>
            <a:off x="4646981" y="2498141"/>
            <a:ext cx="261518" cy="261518"/>
          </a:xfrm>
          <a:prstGeom prst="rect">
            <a:avLst/>
          </a:prstGeom>
        </p:spPr>
      </p:pic>
      <p:sp>
        <p:nvSpPr>
          <p:cNvPr id="22" name="Text 18"/>
          <p:cNvSpPr txBox="1"/>
          <p:nvPr/>
        </p:nvSpPr>
        <p:spPr>
          <a:xfrm>
            <a:off x="5212080" y="2377440"/>
            <a:ext cx="2468880" cy="502920"/>
          </a:xfrm>
          <a:prstGeom prst="rect">
            <a:avLst/>
          </a:prstGeom>
          <a:noFill/>
          <a:ln/>
        </p:spPr>
        <p:txBody>
          <a:bodyPr wrap="square" lIns="0" tIns="0" rIns="0" bIns="0" rtlCol="0" anchor="ctr"/>
          <a:lstStyle/>
          <a:p>
            <a:pPr indent="0" marL="0">
              <a:buNone/>
            </a:pPr>
            <a:r>
              <a:rPr lang="en-US" sz="1900" b="1" dirty="0">
                <a:solidFill>
                  <a:schemeClr val="tx1"/>
                </a:solidFill>
                <a:latin typeface="Calibri" pitchFamily="34" charset="0"/>
                <a:ea typeface="Calibri" pitchFamily="34" charset="-122"/>
                <a:cs typeface="Calibri" pitchFamily="34" charset="-120"/>
              </a:rPr>
              <a:t>Semantic checks</a:t>
            </a:r>
            <a:endParaRPr lang="en-US" sz="1900" dirty="0"/>
          </a:p>
        </p:txBody>
      </p:sp>
      <p:sp>
        <p:nvSpPr>
          <p:cNvPr id="23" name="Text 19"/>
          <p:cNvSpPr txBox="1"/>
          <p:nvPr/>
        </p:nvSpPr>
        <p:spPr>
          <a:xfrm>
            <a:off x="4572000" y="3063240"/>
            <a:ext cx="306324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Columns exist (alias-aware)</a:t>
            </a:r>
            <a:endParaRPr lang="en-US" sz="1500" dirty="0"/>
          </a:p>
          <a:p>
            <a:pPr marL="342900" indent="-342900">
              <a:spcAft>
                <a:spcPts val="600"/>
              </a:spcAft>
              <a:buSzPct val="100000"/>
              <a:buChar char="•"/>
            </a:pPr>
            <a:r>
              <a:rPr lang="en-US" sz="1500" dirty="0">
                <a:solidFill>
                  <a:schemeClr val="tx1"/>
                </a:solidFill>
              </a:rPr>
              <a:t>Joins match declared edges and keys</a:t>
            </a:r>
            <a:endParaRPr lang="en-US" sz="1500" dirty="0"/>
          </a:p>
          <a:p>
            <a:pPr marL="342900" indent="-342900">
              <a:spcAft>
                <a:spcPts val="600"/>
              </a:spcAft>
              <a:buSzPct val="100000"/>
              <a:buChar char="•"/>
            </a:pPr>
            <a:r>
              <a:rPr lang="en-US" sz="1500" dirty="0">
                <a:solidFill>
                  <a:schemeClr val="tx1"/>
                </a:solidFill>
              </a:rPr>
              <a:t>Fidelity: resolved tables, metric expression and filters must appear in the SQL</a:t>
            </a:r>
            <a:endParaRPr lang="en-US" sz="1500" dirty="0"/>
          </a:p>
        </p:txBody>
      </p:sp>
      <p:sp>
        <p:nvSpPr>
          <p:cNvPr id="24" name="Cost estimate card"/>
          <p:cNvSpPr/>
          <p:nvPr/>
        </p:nvSpPr>
        <p:spPr>
          <a:xfrm>
            <a:off x="8046720" y="2194560"/>
            <a:ext cx="3566160" cy="2743200"/>
          </a:xfrm>
          <a:prstGeom prst="roundRect">
            <a:avLst>
              <a:gd name="adj" fmla="val 4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5" name="Cost estimate bg"/>
          <p:cNvSpPr/>
          <p:nvPr/>
        </p:nvSpPr>
        <p:spPr>
          <a:xfrm>
            <a:off x="8275320" y="2377440"/>
            <a:ext cx="502920" cy="502920"/>
          </a:xfrm>
          <a:prstGeom prst="ellipse">
            <a:avLst/>
          </a:prstGeom>
          <a:solidFill>
            <a:schemeClr val="accent3"/>
          </a:solidFill>
          <a:ln w="6350">
            <a:solidFill>
              <a:schemeClr val="accent3"/>
            </a:solidFill>
            <a:prstDash val="solid"/>
          </a:ln>
        </p:spPr>
      </p:sp>
      <p:pic>
        <p:nvPicPr>
          <p:cNvPr id="26" name="Image 2" descr="Cost estimate">    </p:cNvPr>
          <p:cNvPicPr>
            <a:picLocks noChangeAspect="1"/>
          </p:cNvPicPr>
          <p:nvPr/>
        </p:nvPicPr>
        <p:blipFill>
          <a:blip r:embed="rId3"/>
          <a:stretch>
            <a:fillRect/>
          </a:stretch>
        </p:blipFill>
        <p:spPr>
          <a:xfrm>
            <a:off x="8396021" y="2498141"/>
            <a:ext cx="261518" cy="261518"/>
          </a:xfrm>
          <a:prstGeom prst="rect">
            <a:avLst/>
          </a:prstGeom>
        </p:spPr>
      </p:pic>
      <p:sp>
        <p:nvSpPr>
          <p:cNvPr id="27" name="Text 22"/>
          <p:cNvSpPr txBox="1"/>
          <p:nvPr/>
        </p:nvSpPr>
        <p:spPr>
          <a:xfrm>
            <a:off x="8961120" y="2377440"/>
            <a:ext cx="2468880" cy="502920"/>
          </a:xfrm>
          <a:prstGeom prst="rect">
            <a:avLst/>
          </a:prstGeom>
          <a:noFill/>
          <a:ln/>
        </p:spPr>
        <p:txBody>
          <a:bodyPr wrap="square" lIns="0" tIns="0" rIns="0" bIns="0" rtlCol="0" anchor="ctr"/>
          <a:lstStyle/>
          <a:p>
            <a:pPr indent="0" marL="0">
              <a:buNone/>
            </a:pPr>
            <a:r>
              <a:rPr lang="en-US" sz="1900" b="1" dirty="0">
                <a:solidFill>
                  <a:schemeClr val="tx1"/>
                </a:solidFill>
                <a:latin typeface="Calibri" pitchFamily="34" charset="0"/>
                <a:ea typeface="Calibri" pitchFamily="34" charset="-122"/>
                <a:cs typeface="Calibri" pitchFamily="34" charset="-120"/>
              </a:rPr>
              <a:t>Cost estimate</a:t>
            </a:r>
            <a:endParaRPr lang="en-US" sz="1900" dirty="0"/>
          </a:p>
        </p:txBody>
      </p:sp>
      <p:sp>
        <p:nvSpPr>
          <p:cNvPr id="28" name="Text 23"/>
          <p:cNvSpPr txBox="1"/>
          <p:nvPr/>
        </p:nvSpPr>
        <p:spPr>
          <a:xfrm>
            <a:off x="8321040" y="3063240"/>
            <a:ext cx="306324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Scan size from catalog row counts</a:t>
            </a:r>
            <a:endParaRPr lang="en-US" sz="1500" dirty="0"/>
          </a:p>
          <a:p>
            <a:pPr marL="342900" indent="-342900">
              <a:spcAft>
                <a:spcPts val="600"/>
              </a:spcAft>
              <a:buSzPct val="100000"/>
              <a:buChar char="•"/>
            </a:pPr>
            <a:r>
              <a:rPr lang="en-US" sz="1500" dirty="0">
                <a:solidFill>
                  <a:schemeClr val="tx1"/>
                </a:solidFill>
              </a:rPr>
              <a:t>Full scan of a fact table</a:t>
            </a:r>
            <a:endParaRPr lang="en-US" sz="1500" dirty="0"/>
          </a:p>
          <a:p>
            <a:pPr marL="342900" indent="-342900">
              <a:spcAft>
                <a:spcPts val="600"/>
              </a:spcAft>
              <a:buSzPct val="100000"/>
              <a:buChar char="•"/>
            </a:pPr>
            <a:r>
              <a:rPr lang="en-US" sz="1500" dirty="0">
                <a:solidFill>
                  <a:schemeClr val="tx1"/>
                </a:solidFill>
              </a:rPr>
              <a:t>Join and subquery depth</a:t>
            </a:r>
            <a:endParaRPr lang="en-US" sz="1500" dirty="0"/>
          </a:p>
        </p:txBody>
      </p:sp>
      <p:sp>
        <p:nvSpPr>
          <p:cNvPr id="29" name="Error sample"/>
          <p:cNvSpPr/>
          <p:nvPr/>
        </p:nvSpPr>
        <p:spPr>
          <a:xfrm>
            <a:off x="548640" y="5120640"/>
            <a:ext cx="7223760" cy="1143000"/>
          </a:xfrm>
          <a:prstGeom prst="roundRect">
            <a:avLst>
              <a:gd name="adj" fmla="val 9600"/>
            </a:avLst>
          </a:prstGeom>
          <a:solidFill>
            <a:schemeClr val="accent5">
              <a:alpha val="12000"/>
            </a:schemeClr>
          </a:solidFill>
          <a:ln w="22225">
            <a:solidFill>
              <a:schemeClr val="accent5"/>
            </a:solidFill>
            <a:prstDash val="solid"/>
          </a:ln>
        </p:spPr>
      </p:sp>
      <p:sp>
        <p:nvSpPr>
          <p:cNvPr id="30" name="Text 25"/>
          <p:cNvSpPr txBox="1"/>
          <p:nvPr/>
        </p:nvSpPr>
        <p:spPr>
          <a:xfrm>
            <a:off x="822960" y="5193792"/>
            <a:ext cx="3657600" cy="32004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A real check failing</a:t>
            </a:r>
            <a:endParaRPr lang="en-US" sz="1500" dirty="0"/>
          </a:p>
        </p:txBody>
      </p:sp>
      <p:sp>
        <p:nvSpPr>
          <p:cNvPr id="31" name="Text 26"/>
          <p:cNvSpPr txBox="1"/>
          <p:nvPr/>
        </p:nvSpPr>
        <p:spPr>
          <a:xfrm>
            <a:off x="822960" y="5532120"/>
            <a:ext cx="6675120" cy="6400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missing_metric_expr: expression sum(orders.amount) of metric revenue does not appear in the SQL</a:t>
            </a:r>
            <a:endParaRPr lang="en-US" sz="1300" dirty="0"/>
          </a:p>
        </p:txBody>
      </p:sp>
      <p:sp>
        <p:nvSpPr>
          <p:cNvPr id="32" name="On failure"/>
          <p:cNvSpPr/>
          <p:nvPr/>
        </p:nvSpPr>
        <p:spPr>
          <a:xfrm>
            <a:off x="7955280" y="5120640"/>
            <a:ext cx="3685032" cy="1143000"/>
          </a:xfrm>
          <a:prstGeom prst="roundRect">
            <a:avLst>
              <a:gd name="adj" fmla="val 9600"/>
            </a:avLst>
          </a:prstGeom>
          <a:solidFill>
            <a:schemeClr val="accent2">
              <a:alpha val="12000"/>
            </a:schemeClr>
          </a:solidFill>
          <a:ln w="22225">
            <a:solidFill>
              <a:schemeClr val="accent2"/>
            </a:solidFill>
            <a:prstDash val="solid"/>
          </a:ln>
        </p:spPr>
      </p:sp>
      <p:sp>
        <p:nvSpPr>
          <p:cNvPr id="33" name="Text 28"/>
          <p:cNvSpPr txBox="1"/>
          <p:nvPr/>
        </p:nvSpPr>
        <p:spPr>
          <a:xfrm>
            <a:off x="8183880" y="5193792"/>
            <a:ext cx="3291840" cy="3200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If a check fails</a:t>
            </a:r>
            <a:endParaRPr lang="en-US" sz="1500" dirty="0"/>
          </a:p>
        </p:txBody>
      </p:sp>
      <p:sp>
        <p:nvSpPr>
          <p:cNvPr id="34" name="Text 29"/>
          <p:cNvSpPr txBox="1"/>
          <p:nvPr/>
        </p:nvSpPr>
        <p:spPr>
          <a:xfrm>
            <a:off x="8183880" y="5532120"/>
            <a:ext cx="3246120" cy="6858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The error goes back to the model: up to 2 repairs. Then a clear message, never plausible SQL.</a:t>
            </a:r>
            <a:endParaRPr lang="en-US" sz="13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Multi-turn and memory</a:t>
            </a:r>
            <a:endParaRPr lang="en-US" sz="3400" dirty="0"/>
          </a:p>
        </p:txBody>
      </p:sp>
      <p:sp>
        <p:nvSpPr>
          <p:cNvPr id="3" name="Text 1"/>
          <p:cNvSpPr txBox="1"/>
          <p:nvPr/>
        </p:nvSpPr>
        <p:spPr>
          <a:xfrm>
            <a:off x="548640" y="1188720"/>
            <a:ext cx="7772400" cy="3657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session, turn by turn. The metric (revenue) is inherited in every follow-up.</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772400" cy="914400"/>
        </p:xfrm>
        <a:graphic>
          <a:graphicData uri="http://schemas.openxmlformats.org/drawingml/2006/table">
            <a:tbl>
              <a:tblPr/>
              <a:tblGrid>
                <a:gridCol w="2240280"/>
                <a:gridCol w="960120"/>
                <a:gridCol w="1005840"/>
                <a:gridCol w="1097280"/>
                <a:gridCol w="1371600"/>
                <a:gridCol w="1097280"/>
              </a:tblGrid>
              <a:tr h="411480">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Mode</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Group by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Filter</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Window</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tx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Revenue by region for the last 7 days</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new query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last 7 days</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accent2">
                        <a:alpha val="25000"/>
                      </a:schemeClr>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accent2">
                        <a:alpha val="25000"/>
                      </a:schemeClr>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What about yesterday?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follow-up</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yesterday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accent2">
                        <a:alpha val="25000"/>
                      </a:schemeClr>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Only gold members</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follow-up</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yesterday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vip_level = gold</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accent2">
                        <a:alpha val="25000"/>
                      </a:schemeClr>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Top 3 categories by revenue in each region</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follow-up</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yesterday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accent2">
                        <a:alpha val="25000"/>
                      </a:schemeClr>
                    </a:solidFill>
                  </a:tcPr>
                </a:tc>
                <a:tc>
                  <a:txBody>
                    <a:bodyPr/>
                    <a:lstStyle/>
                    <a:p>
                      <a:pPr indent="0" marL="0">
                        <a:buNone/>
                      </a:pPr>
                      <a:r>
                        <a:rPr lang="en-US" sz="1300" dirty="0">
                          <a:solidFill>
                            <a:schemeClr val="tx2"/>
                          </a:solidFill>
                          <a:latin typeface="Calibri" pitchFamily="34" charset="0"/>
                          <a:ea typeface="Calibri" pitchFamily="34" charset="-122"/>
                          <a:cs typeface="Calibri" pitchFamily="34" charset="-120"/>
                        </a:rPr>
                        <a:t>vip_level = gold</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top 3 / region</a:t>
                      </a:r>
                      <a:endParaRPr lang="en-US" sz="1300" dirty="0">
                        <a:latin typeface="Calibri" charset="0"/>
                        <a:ea typeface="Calibri" charset="0"/>
                        <a:cs typeface="Calibri" charset="0"/>
                      </a:endParaRPr>
                    </a:p>
                  </a:txBody>
                  <a:tcPr marL="73152" marR="73152" marT="45720" marB="45720" anchor="ctr">
                    <a:lnL w="9525" cap="flat" cmpd="sng" algn="ctr">
                      <a:solidFill>
                        <a:srgbClr val="D9D2C0"/>
                      </a:solidFill>
                      <a:prstDash val="solid"/>
                      <a:round/>
                      <a:headEnd type="none" w="med" len="med"/>
                      <a:tailEnd type="none" w="med" len="med"/>
                    </a:lnL>
                    <a:lnR w="9525" cap="flat" cmpd="sng" algn="ctr">
                      <a:solidFill>
                        <a:srgbClr val="D9D2C0"/>
                      </a:solidFill>
                      <a:prstDash val="solid"/>
                      <a:round/>
                      <a:headEnd type="none" w="med" len="med"/>
                      <a:tailEnd type="none" w="med" len="med"/>
                    </a:lnR>
                    <a:lnT w="9525" cap="flat" cmpd="sng" algn="ctr">
                      <a:solidFill>
                        <a:srgbClr val="D9D2C0"/>
                      </a:solidFill>
                      <a:prstDash val="solid"/>
                      <a:round/>
                      <a:headEnd type="none" w="med" len="med"/>
                      <a:tailEnd type="none" w="med" len="med"/>
                    </a:lnT>
                    <a:lnB w="9525" cap="flat" cmpd="sng" algn="ctr">
                      <a:solidFill>
                        <a:srgbClr val="D9D2C0"/>
                      </a:solidFill>
                      <a:prstDash val="solid"/>
                      <a:round/>
                      <a:headEnd type="none" w="med" len="med"/>
                      <a:tailEnd type="none" w="med" len="med"/>
                    </a:lnB>
                    <a:solidFill>
                      <a:schemeClr val="accent2">
                        <a:alpha val="25000"/>
                      </a:schemeClr>
                    </a:solidFill>
                  </a:tcPr>
                </a:tc>
              </a:tr>
            </a:tbl>
          </a:graphicData>
        </a:graphic>
      </p:graphicFrame>
      <p:sp>
        <p:nvSpPr>
          <p:cNvPr id="5" name="Text 2"/>
          <p:cNvSpPr txBox="1"/>
          <p:nvPr/>
        </p:nvSpPr>
        <p:spPr>
          <a:xfrm>
            <a:off x="548640" y="5120640"/>
            <a:ext cx="77724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Green = set this turn · grey = inherited from the previous turn</a:t>
            </a:r>
            <a:endParaRPr lang="en-US" sz="1300" dirty="0"/>
          </a:p>
        </p:txBody>
      </p:sp>
      <p:sp>
        <p:nvSpPr>
          <p:cNvPr id="6" name="Priority"/>
          <p:cNvSpPr/>
          <p:nvPr/>
        </p:nvSpPr>
        <p:spPr>
          <a:xfrm>
            <a:off x="548640" y="5532120"/>
            <a:ext cx="7772400" cy="640080"/>
          </a:xfrm>
          <a:prstGeom prst="roundRect">
            <a:avLst>
              <a:gd name="adj" fmla="val 17143"/>
            </a:avLst>
          </a:prstGeom>
          <a:solidFill>
            <a:schemeClr val="accent1">
              <a:alpha val="12000"/>
            </a:schemeClr>
          </a:solidFill>
          <a:ln w="22225">
            <a:solidFill>
              <a:schemeClr val="accent1"/>
            </a:solidFill>
            <a:prstDash val="solid"/>
          </a:ln>
        </p:spPr>
      </p:sp>
      <p:sp>
        <p:nvSpPr>
          <p:cNvPr id="7" name="Text 4"/>
          <p:cNvSpPr txBox="1"/>
          <p:nvPr/>
        </p:nvSpPr>
        <p:spPr>
          <a:xfrm>
            <a:off x="777240" y="5532120"/>
            <a:ext cx="7406640" cy="6400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Priority:  explicit input  &gt;  session state  &gt;  project memory  &gt;  user preference</a:t>
            </a:r>
            <a:endParaRPr lang="en-US" sz="1500" dirty="0"/>
          </a:p>
        </p:txBody>
      </p:sp>
      <p:sp>
        <p:nvSpPr>
          <p:cNvPr id="8" name="Session memory"/>
          <p:cNvSpPr/>
          <p:nvPr/>
        </p:nvSpPr>
        <p:spPr>
          <a:xfrm>
            <a:off x="8549640" y="1188720"/>
            <a:ext cx="3090672" cy="1536192"/>
          </a:xfrm>
          <a:prstGeom prst="roundRect">
            <a:avLst>
              <a:gd name="adj" fmla="val 7143"/>
            </a:avLst>
          </a:prstGeom>
          <a:solidFill>
            <a:schemeClr val="accent4">
              <a:alpha val="12000"/>
            </a:schemeClr>
          </a:solidFill>
          <a:ln w="22225">
            <a:solidFill>
              <a:schemeClr val="accent4"/>
            </a:solidFill>
            <a:prstDash val="solid"/>
          </a:ln>
        </p:spPr>
      </p:sp>
      <p:sp>
        <p:nvSpPr>
          <p:cNvPr id="9" name="Session bg"/>
          <p:cNvSpPr/>
          <p:nvPr/>
        </p:nvSpPr>
        <p:spPr>
          <a:xfrm>
            <a:off x="8732520" y="1325880"/>
            <a:ext cx="457200" cy="457200"/>
          </a:xfrm>
          <a:prstGeom prst="ellipse">
            <a:avLst/>
          </a:prstGeom>
          <a:solidFill>
            <a:schemeClr val="accent4"/>
          </a:solidFill>
          <a:ln w="6350">
            <a:solidFill>
              <a:schemeClr val="accent4"/>
            </a:solidFill>
            <a:prstDash val="solid"/>
          </a:ln>
        </p:spPr>
      </p:sp>
      <p:pic>
        <p:nvPicPr>
          <p:cNvPr id="10" name="Image 0" descr="Session">    </p:cNvPr>
          <p:cNvPicPr>
            <a:picLocks noChangeAspect="1"/>
          </p:cNvPicPr>
          <p:nvPr/>
        </p:nvPicPr>
        <p:blipFill>
          <a:blip r:embed="rId1"/>
          <a:stretch>
            <a:fillRect/>
          </a:stretch>
        </p:blipFill>
        <p:spPr>
          <a:xfrm>
            <a:off x="8842248" y="1435608"/>
            <a:ext cx="237744" cy="237744"/>
          </a:xfrm>
          <a:prstGeom prst="rect">
            <a:avLst/>
          </a:prstGeom>
        </p:spPr>
      </p:pic>
      <p:sp>
        <p:nvSpPr>
          <p:cNvPr id="11" name="Text 7"/>
          <p:cNvSpPr txBox="1"/>
          <p:nvPr/>
        </p:nvSpPr>
        <p:spPr>
          <a:xfrm>
            <a:off x="9326880" y="1325880"/>
            <a:ext cx="2194560" cy="45720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Session</a:t>
            </a:r>
            <a:endParaRPr lang="en-US" sz="1800" dirty="0"/>
          </a:p>
        </p:txBody>
      </p:sp>
      <p:sp>
        <p:nvSpPr>
          <p:cNvPr id="12" name="Text 8"/>
          <p:cNvSpPr txBox="1"/>
          <p:nvPr/>
        </p:nvSpPr>
        <p:spPr>
          <a:xfrm>
            <a:off x="8732520" y="1874520"/>
            <a:ext cx="2788920" cy="82296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Last query state and pending task, saved as an append-only log. Survives a restart.</a:t>
            </a:r>
            <a:endParaRPr lang="en-US" sz="1250" dirty="0"/>
          </a:p>
        </p:txBody>
      </p:sp>
      <p:sp>
        <p:nvSpPr>
          <p:cNvPr id="13" name="Project memory"/>
          <p:cNvSpPr/>
          <p:nvPr/>
        </p:nvSpPr>
        <p:spPr>
          <a:xfrm>
            <a:off x="8549640" y="2834640"/>
            <a:ext cx="3090672" cy="1536192"/>
          </a:xfrm>
          <a:prstGeom prst="roundRect">
            <a:avLst>
              <a:gd name="adj" fmla="val 7143"/>
            </a:avLst>
          </a:prstGeom>
          <a:solidFill>
            <a:schemeClr val="accent4">
              <a:alpha val="12000"/>
            </a:schemeClr>
          </a:solidFill>
          <a:ln w="22225">
            <a:solidFill>
              <a:schemeClr val="accent4"/>
            </a:solidFill>
            <a:prstDash val="solid"/>
          </a:ln>
        </p:spPr>
      </p:sp>
      <p:sp>
        <p:nvSpPr>
          <p:cNvPr id="14" name="Project bg"/>
          <p:cNvSpPr/>
          <p:nvPr/>
        </p:nvSpPr>
        <p:spPr>
          <a:xfrm>
            <a:off x="8732520" y="2971800"/>
            <a:ext cx="457200" cy="457200"/>
          </a:xfrm>
          <a:prstGeom prst="ellipse">
            <a:avLst/>
          </a:prstGeom>
          <a:solidFill>
            <a:schemeClr val="accent4"/>
          </a:solidFill>
          <a:ln w="6350">
            <a:solidFill>
              <a:schemeClr val="accent4"/>
            </a:solidFill>
            <a:prstDash val="solid"/>
          </a:ln>
        </p:spPr>
      </p:sp>
      <p:pic>
        <p:nvPicPr>
          <p:cNvPr id="15" name="Image 1" descr="Project">    </p:cNvPr>
          <p:cNvPicPr>
            <a:picLocks noChangeAspect="1"/>
          </p:cNvPicPr>
          <p:nvPr/>
        </p:nvPicPr>
        <p:blipFill>
          <a:blip r:embed="rId2"/>
          <a:stretch>
            <a:fillRect/>
          </a:stretch>
        </p:blipFill>
        <p:spPr>
          <a:xfrm>
            <a:off x="8842248" y="3081528"/>
            <a:ext cx="237744" cy="237744"/>
          </a:xfrm>
          <a:prstGeom prst="rect">
            <a:avLst/>
          </a:prstGeom>
        </p:spPr>
      </p:pic>
      <p:sp>
        <p:nvSpPr>
          <p:cNvPr id="16" name="Text 11"/>
          <p:cNvSpPr txBox="1"/>
          <p:nvPr/>
        </p:nvSpPr>
        <p:spPr>
          <a:xfrm>
            <a:off x="9326880" y="2971800"/>
            <a:ext cx="2194560" cy="45720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Project</a:t>
            </a:r>
            <a:endParaRPr lang="en-US" sz="1800" dirty="0"/>
          </a:p>
        </p:txBody>
      </p:sp>
      <p:sp>
        <p:nvSpPr>
          <p:cNvPr id="17" name="Text 12"/>
          <p:cNvSpPr txBox="1"/>
          <p:nvPr/>
        </p:nvSpPr>
        <p:spPr>
          <a:xfrm>
            <a:off x="8732520" y="3520440"/>
            <a:ext cx="2788920" cy="82296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An index file points to topic files injected into extraction. An LLM decides what to save.</a:t>
            </a:r>
            <a:endParaRPr lang="en-US" sz="1250" dirty="0"/>
          </a:p>
        </p:txBody>
      </p:sp>
      <p:sp>
        <p:nvSpPr>
          <p:cNvPr id="18" name="User memory"/>
          <p:cNvSpPr/>
          <p:nvPr/>
        </p:nvSpPr>
        <p:spPr>
          <a:xfrm>
            <a:off x="8549640" y="4480560"/>
            <a:ext cx="3090672" cy="1536192"/>
          </a:xfrm>
          <a:prstGeom prst="roundRect">
            <a:avLst>
              <a:gd name="adj" fmla="val 7143"/>
            </a:avLst>
          </a:prstGeom>
          <a:solidFill>
            <a:schemeClr val="accent4">
              <a:alpha val="12000"/>
            </a:schemeClr>
          </a:solidFill>
          <a:ln w="22225">
            <a:solidFill>
              <a:schemeClr val="accent4"/>
            </a:solidFill>
            <a:prstDash val="solid"/>
          </a:ln>
        </p:spPr>
      </p:sp>
      <p:sp>
        <p:nvSpPr>
          <p:cNvPr id="19" name="User bg"/>
          <p:cNvSpPr/>
          <p:nvPr/>
        </p:nvSpPr>
        <p:spPr>
          <a:xfrm>
            <a:off x="8732520" y="4617720"/>
            <a:ext cx="457200" cy="457200"/>
          </a:xfrm>
          <a:prstGeom prst="ellipse">
            <a:avLst/>
          </a:prstGeom>
          <a:solidFill>
            <a:schemeClr val="accent4"/>
          </a:solidFill>
          <a:ln w="6350">
            <a:solidFill>
              <a:schemeClr val="accent4"/>
            </a:solidFill>
            <a:prstDash val="solid"/>
          </a:ln>
        </p:spPr>
      </p:sp>
      <p:pic>
        <p:nvPicPr>
          <p:cNvPr id="20" name="Image 2" descr="User">    </p:cNvPr>
          <p:cNvPicPr>
            <a:picLocks noChangeAspect="1"/>
          </p:cNvPicPr>
          <p:nvPr/>
        </p:nvPicPr>
        <p:blipFill>
          <a:blip r:embed="rId3"/>
          <a:stretch>
            <a:fillRect/>
          </a:stretch>
        </p:blipFill>
        <p:spPr>
          <a:xfrm>
            <a:off x="8842248" y="4727448"/>
            <a:ext cx="237744" cy="237744"/>
          </a:xfrm>
          <a:prstGeom prst="rect">
            <a:avLst/>
          </a:prstGeom>
        </p:spPr>
      </p:pic>
      <p:sp>
        <p:nvSpPr>
          <p:cNvPr id="21" name="Text 15"/>
          <p:cNvSpPr txBox="1"/>
          <p:nvPr/>
        </p:nvSpPr>
        <p:spPr>
          <a:xfrm>
            <a:off x="9326880" y="4617720"/>
            <a:ext cx="2194560" cy="45720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User</a:t>
            </a:r>
            <a:endParaRPr lang="en-US" sz="1800" dirty="0"/>
          </a:p>
        </p:txBody>
      </p:sp>
      <p:sp>
        <p:nvSpPr>
          <p:cNvPr id="22" name="Text 16"/>
          <p:cNvSpPr txBox="1"/>
          <p:nvPr/>
        </p:nvSpPr>
        <p:spPr>
          <a:xfrm>
            <a:off x="8732520" y="5166360"/>
            <a:ext cx="2788920" cy="82296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Usage counts give a weak bias, at most +6 points, applied before the decision.</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How I evaluate it</a:t>
            </a:r>
            <a:endParaRPr lang="en-US" sz="3400" dirty="0"/>
          </a:p>
        </p:txBody>
      </p:sp>
      <p:sp>
        <p:nvSpPr>
          <p:cNvPr id="3" name="Layer A"/>
          <p:cNvSpPr/>
          <p:nvPr/>
        </p:nvSpPr>
        <p:spPr>
          <a:xfrm>
            <a:off x="548640" y="1280160"/>
            <a:ext cx="5394960" cy="2148840"/>
          </a:xfrm>
          <a:prstGeom prst="roundRect">
            <a:avLst>
              <a:gd name="adj" fmla="val 5106"/>
            </a:avLst>
          </a:prstGeom>
          <a:solidFill>
            <a:schemeClr val="accent2">
              <a:alpha val="12000"/>
            </a:schemeClr>
          </a:solidFill>
          <a:ln w="22225">
            <a:solidFill>
              <a:schemeClr val="accent2"/>
            </a:solidFill>
            <a:prstDash val="solid"/>
          </a:ln>
        </p:spPr>
      </p:sp>
      <p:sp>
        <p:nvSpPr>
          <p:cNvPr id="4" name="Text 2"/>
          <p:cNvSpPr txBox="1"/>
          <p:nvPr/>
        </p:nvSpPr>
        <p:spPr>
          <a:xfrm>
            <a:off x="822960" y="1371600"/>
            <a:ext cx="4846320" cy="365760"/>
          </a:xfrm>
          <a:prstGeom prst="rect">
            <a:avLst/>
          </a:prstGeom>
          <a:noFill/>
          <a:ln/>
        </p:spPr>
        <p:txBody>
          <a:bodyPr wrap="square" lIns="0" tIns="0" rIns="0" bIns="0" rtlCol="0" anchor="t"/>
          <a:lstStyle/>
          <a:p>
            <a:pPr indent="0" marL="0">
              <a:buNone/>
            </a:pPr>
            <a:r>
              <a:rPr lang="en-US" sz="1800" b="1" dirty="0">
                <a:solidFill>
                  <a:schemeClr val="accent2"/>
                </a:solidFill>
                <a:latin typeface="Calibri" pitchFamily="34" charset="0"/>
                <a:ea typeface="Calibri" pitchFamily="34" charset="-122"/>
                <a:cs typeface="Calibri" pitchFamily="34" charset="-120"/>
              </a:rPr>
              <a:t>Layer 1 · Mocked LLM, real pipeline</a:t>
            </a:r>
            <a:endParaRPr lang="en-US" sz="1800" dirty="0"/>
          </a:p>
        </p:txBody>
      </p:sp>
      <p:sp>
        <p:nvSpPr>
          <p:cNvPr id="5" name="Text 3"/>
          <p:cNvSpPr txBox="1"/>
          <p:nvPr/>
        </p:nvSpPr>
        <p:spPr>
          <a:xfrm>
            <a:off x="822960" y="1783080"/>
            <a:ext cx="1554480" cy="731520"/>
          </a:xfrm>
          <a:prstGeom prst="rect">
            <a:avLst/>
          </a:prstGeom>
          <a:noFill/>
          <a:ln/>
        </p:spPr>
        <p:txBody>
          <a:bodyPr wrap="square" lIns="0" tIns="0" rIns="0" bIns="0" rtlCol="0" anchor="ctr"/>
          <a:lstStyle/>
          <a:p>
            <a:pPr indent="0" marL="0">
              <a:buNone/>
            </a:pPr>
            <a:r>
              <a:rPr lang="en-US" sz="4800" b="1" dirty="0">
                <a:solidFill>
                  <a:schemeClr val="tx1"/>
                </a:solidFill>
                <a:latin typeface="Calibri" pitchFamily="34" charset="0"/>
                <a:ea typeface="Calibri" pitchFamily="34" charset="-122"/>
                <a:cs typeface="Calibri" pitchFamily="34" charset="-120"/>
              </a:rPr>
              <a:t>362</a:t>
            </a:r>
            <a:endParaRPr lang="en-US" sz="4800" dirty="0"/>
          </a:p>
        </p:txBody>
      </p:sp>
      <p:sp>
        <p:nvSpPr>
          <p:cNvPr id="6" name="Text 4"/>
          <p:cNvSpPr txBox="1"/>
          <p:nvPr/>
        </p:nvSpPr>
        <p:spPr>
          <a:xfrm>
            <a:off x="2377440" y="1920240"/>
            <a:ext cx="3291840" cy="457200"/>
          </a:xfrm>
          <a:prstGeom prst="rect">
            <a:avLst/>
          </a:prstGeom>
          <a:noFill/>
          <a:ln/>
        </p:spPr>
        <p:txBody>
          <a:bodyPr wrap="square" lIns="0" tIns="0" rIns="0" bIns="0" rtlCol="0" anchor="ctr"/>
          <a:lstStyle/>
          <a:p>
            <a:pPr indent="0" marL="0">
              <a:buNone/>
            </a:pPr>
            <a:r>
              <a:rPr lang="en-US" sz="1800" dirty="0">
                <a:solidFill>
                  <a:schemeClr val="tx2"/>
                </a:solidFill>
                <a:latin typeface="Calibri" pitchFamily="34" charset="0"/>
                <a:ea typeface="Calibri" pitchFamily="34" charset="-122"/>
                <a:cs typeface="Calibri" pitchFamily="34" charset="-120"/>
              </a:rPr>
              <a:t>tests in ~6 s</a:t>
            </a:r>
            <a:endParaRPr lang="en-US" sz="1800" dirty="0"/>
          </a:p>
        </p:txBody>
      </p:sp>
      <p:sp>
        <p:nvSpPr>
          <p:cNvPr id="7" name="Text 5"/>
          <p:cNvSpPr txBox="1"/>
          <p:nvPr/>
        </p:nvSpPr>
        <p:spPr>
          <a:xfrm>
            <a:off x="822960" y="2606040"/>
            <a:ext cx="484632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45 golden cases in 9 groups. Matching, thresholds, state merge, confirmation and persistence run for real. 5 known limits are pinned as strict xfail.</a:t>
            </a:r>
            <a:endParaRPr lang="en-US" sz="1400" dirty="0"/>
          </a:p>
        </p:txBody>
      </p:sp>
      <p:sp>
        <p:nvSpPr>
          <p:cNvPr id="8" name="Layer B"/>
          <p:cNvSpPr/>
          <p:nvPr/>
        </p:nvSpPr>
        <p:spPr>
          <a:xfrm>
            <a:off x="6245352" y="1280160"/>
            <a:ext cx="5394960" cy="2148840"/>
          </a:xfrm>
          <a:prstGeom prst="roundRect">
            <a:avLst>
              <a:gd name="adj" fmla="val 5106"/>
            </a:avLst>
          </a:prstGeom>
          <a:solidFill>
            <a:schemeClr val="accent1">
              <a:alpha val="12000"/>
            </a:schemeClr>
          </a:solidFill>
          <a:ln w="22225">
            <a:solidFill>
              <a:schemeClr val="accent1"/>
            </a:solidFill>
            <a:prstDash val="solid"/>
          </a:ln>
        </p:spPr>
      </p:sp>
      <p:sp>
        <p:nvSpPr>
          <p:cNvPr id="9" name="Text 7"/>
          <p:cNvSpPr txBox="1"/>
          <p:nvPr/>
        </p:nvSpPr>
        <p:spPr>
          <a:xfrm>
            <a:off x="6519672" y="1371600"/>
            <a:ext cx="48463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Layer 2 · Live LLM, real pipeline</a:t>
            </a:r>
            <a:endParaRPr lang="en-US" sz="1800" dirty="0"/>
          </a:p>
        </p:txBody>
      </p:sp>
      <p:sp>
        <p:nvSpPr>
          <p:cNvPr id="10" name="Text 8"/>
          <p:cNvSpPr txBox="1"/>
          <p:nvPr/>
        </p:nvSpPr>
        <p:spPr>
          <a:xfrm>
            <a:off x="6519672" y="1783080"/>
            <a:ext cx="1737360" cy="731520"/>
          </a:xfrm>
          <a:prstGeom prst="rect">
            <a:avLst/>
          </a:prstGeom>
          <a:noFill/>
          <a:ln/>
        </p:spPr>
        <p:txBody>
          <a:bodyPr wrap="square" lIns="0" tIns="0" rIns="0" bIns="0" rtlCol="0" anchor="ctr"/>
          <a:lstStyle/>
          <a:p>
            <a:pPr indent="0" marL="0">
              <a:buNone/>
            </a:pPr>
            <a:r>
              <a:rPr lang="en-US" sz="4800" b="1" dirty="0">
                <a:solidFill>
                  <a:schemeClr val="tx1"/>
                </a:solidFill>
                <a:latin typeface="Calibri" pitchFamily="34" charset="0"/>
                <a:ea typeface="Calibri" pitchFamily="34" charset="-122"/>
                <a:cs typeface="Calibri" pitchFamily="34" charset="-120"/>
              </a:rPr>
              <a:t>36/36</a:t>
            </a:r>
            <a:endParaRPr lang="en-US" sz="4800" dirty="0"/>
          </a:p>
        </p:txBody>
      </p:sp>
      <p:sp>
        <p:nvSpPr>
          <p:cNvPr id="11" name="Text 9"/>
          <p:cNvSpPr txBox="1"/>
          <p:nvPr/>
        </p:nvSpPr>
        <p:spPr>
          <a:xfrm>
            <a:off x="8321040" y="1828800"/>
            <a:ext cx="3200400" cy="640080"/>
          </a:xfrm>
          <a:prstGeom prst="rect">
            <a:avLst/>
          </a:prstGeom>
          <a:noFill/>
          <a:ln/>
        </p:spPr>
        <p:txBody>
          <a:bodyPr wrap="square" lIns="0" tIns="0" rIns="0" bIns="0" rtlCol="0" anchor="ctr"/>
          <a:lstStyle/>
          <a:p>
            <a:pPr indent="0" marL="0">
              <a:buNone/>
            </a:pPr>
            <a:r>
              <a:rPr lang="en-US" sz="1600" dirty="0">
                <a:solidFill>
                  <a:schemeClr val="tx2"/>
                </a:solidFill>
                <a:latin typeface="Calibri" pitchFamily="34" charset="0"/>
                <a:ea typeface="Calibri" pitchFamily="34" charset="-122"/>
                <a:cs typeface="Calibri" pitchFamily="34" charset="-120"/>
              </a:rPr>
              <a:t>regular queries answered as expected</a:t>
            </a:r>
            <a:endParaRPr lang="en-US" sz="1600" dirty="0"/>
          </a:p>
        </p:txBody>
      </p:sp>
      <p:sp>
        <p:nvSpPr>
          <p:cNvPr id="12" name="Text 10"/>
          <p:cNvSpPr txBox="1"/>
          <p:nvPr/>
        </p:nvSpPr>
        <p:spPr>
          <a:xfrm>
            <a:off x="6519672" y="2606040"/>
            <a:ext cx="484632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Measures what mocks cannot: extraction and SQL quality, with the real model.</a:t>
            </a:r>
            <a:endParaRPr lang="en-US" sz="1400" dirty="0"/>
          </a:p>
        </p:txBody>
      </p:sp>
      <p:sp>
        <p:nvSpPr>
          <p:cNvPr id="13" name="Stat 1"/>
          <p:cNvSpPr/>
          <p:nvPr/>
        </p:nvSpPr>
        <p:spPr>
          <a:xfrm>
            <a:off x="548640" y="3611880"/>
            <a:ext cx="3566160" cy="1097280"/>
          </a:xfrm>
          <a:prstGeom prst="roundRect">
            <a:avLst>
              <a:gd name="adj" fmla="val 10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3657600"/>
            <a:ext cx="1463040" cy="1005840"/>
          </a:xfrm>
          <a:prstGeom prst="rect">
            <a:avLst/>
          </a:prstGeom>
          <a:noFill/>
          <a:ln/>
        </p:spPr>
        <p:txBody>
          <a:bodyPr wrap="square" lIns="0" tIns="0" rIns="0" bIns="0" rtlCol="0" anchor="ctr"/>
          <a:lstStyle/>
          <a:p>
            <a:pPr indent="0" marL="0">
              <a:buNone/>
            </a:pPr>
            <a:r>
              <a:rPr lang="en-US" sz="3400" b="1" dirty="0">
                <a:solidFill>
                  <a:schemeClr val="accent1"/>
                </a:solidFill>
                <a:latin typeface="Calibri" pitchFamily="34" charset="0"/>
                <a:ea typeface="Calibri" pitchFamily="34" charset="-122"/>
                <a:cs typeface="Calibri" pitchFamily="34" charset="-120"/>
              </a:rPr>
              <a:t>34/34</a:t>
            </a:r>
            <a:endParaRPr lang="en-US" sz="3400" dirty="0"/>
          </a:p>
        </p:txBody>
      </p:sp>
      <p:sp>
        <p:nvSpPr>
          <p:cNvPr id="15" name="Text 13"/>
          <p:cNvSpPr txBox="1"/>
          <p:nvPr/>
        </p:nvSpPr>
        <p:spPr>
          <a:xfrm>
            <a:off x="2286000" y="3657600"/>
            <a:ext cx="1691640" cy="1005840"/>
          </a:xfrm>
          <a:prstGeom prst="rect">
            <a:avLst/>
          </a:prstGeom>
          <a:noFill/>
          <a:ln/>
        </p:spPr>
        <p:txBody>
          <a:bodyPr wrap="square" lIns="0" tIns="0" rIns="0" bIns="0" rtlCol="0" anchor="ctr"/>
          <a:lstStyle/>
          <a:p>
            <a:pPr indent="0" marL="0">
              <a:buNone/>
            </a:pPr>
            <a:r>
              <a:rPr lang="en-US" sz="1350" dirty="0">
                <a:solidFill>
                  <a:schemeClr val="tx2"/>
                </a:solidFill>
                <a:latin typeface="Calibri" pitchFamily="34" charset="0"/>
                <a:ea typeface="Calibri" pitchFamily="34" charset="-122"/>
                <a:cs typeface="Calibri" pitchFamily="34" charset="-120"/>
              </a:rPr>
              <a:t>generated SQL passed the validator</a:t>
            </a:r>
            <a:endParaRPr lang="en-US" sz="1350" dirty="0"/>
          </a:p>
        </p:txBody>
      </p:sp>
      <p:sp>
        <p:nvSpPr>
          <p:cNvPr id="16" name="Stat 2"/>
          <p:cNvSpPr/>
          <p:nvPr/>
        </p:nvSpPr>
        <p:spPr>
          <a:xfrm>
            <a:off x="4297680" y="3611880"/>
            <a:ext cx="3566160" cy="1097280"/>
          </a:xfrm>
          <a:prstGeom prst="roundRect">
            <a:avLst>
              <a:gd name="adj" fmla="val 10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526280" y="3657600"/>
            <a:ext cx="1463040" cy="1005840"/>
          </a:xfrm>
          <a:prstGeom prst="rect">
            <a:avLst/>
          </a:prstGeom>
          <a:noFill/>
          <a:ln/>
        </p:spPr>
        <p:txBody>
          <a:bodyPr wrap="square" lIns="0" tIns="0" rIns="0" bIns="0" rtlCol="0" anchor="ctr"/>
          <a:lstStyle/>
          <a:p>
            <a:pPr indent="0" marL="0">
              <a:buNone/>
            </a:pPr>
            <a:r>
              <a:rPr lang="en-US" sz="3400" b="1" dirty="0">
                <a:solidFill>
                  <a:schemeClr val="accent1"/>
                </a:solidFill>
                <a:latin typeface="Calibri" pitchFamily="34" charset="0"/>
                <a:ea typeface="Calibri" pitchFamily="34" charset="-122"/>
                <a:cs typeface="Calibri" pitchFamily="34" charset="-120"/>
              </a:rPr>
              <a:t>33/33</a:t>
            </a:r>
            <a:endParaRPr lang="en-US" sz="3400" dirty="0"/>
          </a:p>
        </p:txBody>
      </p:sp>
      <p:sp>
        <p:nvSpPr>
          <p:cNvPr id="18" name="Text 16"/>
          <p:cNvSpPr txBox="1"/>
          <p:nvPr/>
        </p:nvSpPr>
        <p:spPr>
          <a:xfrm>
            <a:off x="6035040" y="3657600"/>
            <a:ext cx="1691640" cy="1005840"/>
          </a:xfrm>
          <a:prstGeom prst="rect">
            <a:avLst/>
          </a:prstGeom>
          <a:noFill/>
          <a:ln/>
        </p:spPr>
        <p:txBody>
          <a:bodyPr wrap="square" lIns="0" tIns="0" rIns="0" bIns="0" rtlCol="0" anchor="ctr"/>
          <a:lstStyle/>
          <a:p>
            <a:pPr indent="0" marL="0">
              <a:buNone/>
            </a:pPr>
            <a:r>
              <a:rPr lang="en-US" sz="1350" dirty="0">
                <a:solidFill>
                  <a:schemeClr val="tx2"/>
                </a:solidFill>
                <a:latin typeface="Calibri" pitchFamily="34" charset="0"/>
                <a:ea typeface="Calibri" pitchFamily="34" charset="-122"/>
                <a:cs typeface="Calibri" pitchFamily="34" charset="-120"/>
              </a:rPr>
              <a:t>metric expression present in the SQL</a:t>
            </a:r>
            <a:endParaRPr lang="en-US" sz="1350" dirty="0"/>
          </a:p>
        </p:txBody>
      </p:sp>
      <p:sp>
        <p:nvSpPr>
          <p:cNvPr id="19" name="Stat 3"/>
          <p:cNvSpPr/>
          <p:nvPr/>
        </p:nvSpPr>
        <p:spPr>
          <a:xfrm>
            <a:off x="8046720" y="3611880"/>
            <a:ext cx="3566160" cy="1097280"/>
          </a:xfrm>
          <a:prstGeom prst="roundRect">
            <a:avLst>
              <a:gd name="adj" fmla="val 10000"/>
            </a:avLst>
          </a:prstGeom>
          <a:solidFill>
            <a:schemeClr val="bg1"/>
          </a:solidFill>
          <a:ln w="9525">
            <a:solidFill>
              <a:schemeClr val="tx2"/>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8275320" y="3657600"/>
            <a:ext cx="1463040" cy="1005840"/>
          </a:xfrm>
          <a:prstGeom prst="rect">
            <a:avLst/>
          </a:prstGeom>
          <a:noFill/>
          <a:ln/>
        </p:spPr>
        <p:txBody>
          <a:bodyPr wrap="square" lIns="0" tIns="0" rIns="0" bIns="0" rtlCol="0" anchor="ctr"/>
          <a:lstStyle/>
          <a:p>
            <a:pPr indent="0" marL="0">
              <a:buNone/>
            </a:pPr>
            <a:r>
              <a:rPr lang="en-US" sz="3400" b="1" dirty="0">
                <a:solidFill>
                  <a:schemeClr val="accent1"/>
                </a:solidFill>
                <a:latin typeface="Calibri" pitchFamily="34" charset="0"/>
                <a:ea typeface="Calibri" pitchFamily="34" charset="-122"/>
                <a:cs typeface="Calibri" pitchFamily="34" charset="-120"/>
              </a:rPr>
              <a:t>9.2 s</a:t>
            </a:r>
            <a:endParaRPr lang="en-US" sz="3400" dirty="0"/>
          </a:p>
        </p:txBody>
      </p:sp>
      <p:sp>
        <p:nvSpPr>
          <p:cNvPr id="21" name="Text 19"/>
          <p:cNvSpPr txBox="1"/>
          <p:nvPr/>
        </p:nvSpPr>
        <p:spPr>
          <a:xfrm>
            <a:off x="9784080" y="3657600"/>
            <a:ext cx="1691640" cy="1005840"/>
          </a:xfrm>
          <a:prstGeom prst="rect">
            <a:avLst/>
          </a:prstGeom>
          <a:noFill/>
          <a:ln/>
        </p:spPr>
        <p:txBody>
          <a:bodyPr wrap="square" lIns="0" tIns="0" rIns="0" bIns="0" rtlCol="0" anchor="ctr"/>
          <a:lstStyle/>
          <a:p>
            <a:pPr indent="0" marL="0">
              <a:buNone/>
            </a:pPr>
            <a:r>
              <a:rPr lang="en-US" sz="1350" dirty="0">
                <a:solidFill>
                  <a:schemeClr val="tx2"/>
                </a:solidFill>
                <a:latin typeface="Calibri" pitchFamily="34" charset="0"/>
                <a:ea typeface="Calibri" pitchFamily="34" charset="-122"/>
                <a:cs typeface="Calibri" pitchFamily="34" charset="-120"/>
              </a:rPr>
              <a:t>average per question (2 LLM calls)</a:t>
            </a:r>
            <a:endParaRPr lang="en-US" sz="1350" dirty="0"/>
          </a:p>
        </p:txBody>
      </p:sp>
      <p:sp>
        <p:nvSpPr>
          <p:cNvPr id="22" name="Misses"/>
          <p:cNvSpPr/>
          <p:nvPr/>
        </p:nvSpPr>
        <p:spPr>
          <a:xfrm>
            <a:off x="548640" y="4892040"/>
            <a:ext cx="5486400" cy="1371600"/>
          </a:xfrm>
          <a:prstGeom prst="roundRect">
            <a:avLst>
              <a:gd name="adj" fmla="val 8000"/>
            </a:avLst>
          </a:prstGeom>
          <a:solidFill>
            <a:schemeClr val="accent3">
              <a:alpha val="12000"/>
            </a:schemeClr>
          </a:solidFill>
          <a:ln w="22225">
            <a:solidFill>
              <a:schemeClr val="accent3"/>
            </a:solidFill>
            <a:prstDash val="solid"/>
          </a:ln>
        </p:spPr>
      </p:sp>
      <p:sp>
        <p:nvSpPr>
          <p:cNvPr id="23" name="Text 21"/>
          <p:cNvSpPr txBox="1"/>
          <p:nvPr/>
        </p:nvSpPr>
        <p:spPr>
          <a:xfrm>
            <a:off x="777240" y="4956048"/>
            <a:ext cx="5029200" cy="320040"/>
          </a:xfrm>
          <a:prstGeom prst="rect">
            <a:avLst/>
          </a:prstGeom>
          <a:noFill/>
          <a:ln/>
        </p:spPr>
        <p:txBody>
          <a:bodyPr wrap="square" lIns="0" tIns="0" rIns="0" bIns="0" rtlCol="0" anchor="t"/>
          <a:lstStyle/>
          <a:p>
            <a:pPr indent="0" marL="0">
              <a:buNone/>
            </a:pPr>
            <a:r>
              <a:rPr lang="en-US" sz="1500" b="1" dirty="0">
                <a:solidFill>
                  <a:schemeClr val="accent3"/>
                </a:solidFill>
                <a:latin typeface="Calibri" pitchFamily="34" charset="0"/>
                <a:ea typeface="Calibri" pitchFamily="34" charset="-122"/>
                <a:cs typeface="Calibri" pitchFamily="34" charset="-120"/>
              </a:rPr>
              <a:t>From 30/36 to 36/36: the misses asked, never guessed</a:t>
            </a:r>
            <a:endParaRPr lang="en-US" sz="1500" dirty="0"/>
          </a:p>
        </p:txBody>
      </p:sp>
      <p:sp>
        <p:nvSpPr>
          <p:cNvPr id="24" name="Text 22"/>
          <p:cNvSpPr txBox="1"/>
          <p:nvPr/>
        </p:nvSpPr>
        <p:spPr>
          <a:xfrm>
            <a:off x="777240" y="5303520"/>
            <a:ext cx="5029200" cy="9144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An earlier run had 6 misses, all a question to the user. Mostly a bare "orders" as the metric (score 67). Fixed with data: one curated alias, plus plural folding.</a:t>
            </a:r>
            <a:endParaRPr lang="en-US" sz="1350" dirty="0"/>
          </a:p>
        </p:txBody>
      </p:sp>
      <p:sp>
        <p:nvSpPr>
          <p:cNvPr id="25" name="Caught"/>
          <p:cNvSpPr/>
          <p:nvPr/>
        </p:nvSpPr>
        <p:spPr>
          <a:xfrm>
            <a:off x="6245352" y="4892040"/>
            <a:ext cx="5394960" cy="1371600"/>
          </a:xfrm>
          <a:prstGeom prst="roundRect">
            <a:avLst>
              <a:gd name="adj" fmla="val 8000"/>
            </a:avLst>
          </a:prstGeom>
          <a:solidFill>
            <a:schemeClr val="accent5">
              <a:alpha val="12000"/>
            </a:schemeClr>
          </a:solidFill>
          <a:ln w="22225">
            <a:solidFill>
              <a:schemeClr val="accent5"/>
            </a:solidFill>
            <a:prstDash val="solid"/>
          </a:ln>
        </p:spPr>
      </p:sp>
      <p:sp>
        <p:nvSpPr>
          <p:cNvPr id="26" name="Text 24"/>
          <p:cNvSpPr txBox="1"/>
          <p:nvPr/>
        </p:nvSpPr>
        <p:spPr>
          <a:xfrm>
            <a:off x="6473952" y="4956048"/>
            <a:ext cx="4937760" cy="320040"/>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What the live eval caught</a:t>
            </a:r>
            <a:endParaRPr lang="en-US" sz="1500" dirty="0"/>
          </a:p>
        </p:txBody>
      </p:sp>
      <p:sp>
        <p:nvSpPr>
          <p:cNvPr id="27" name="Text 25"/>
          <p:cNvSpPr txBox="1"/>
          <p:nvPr/>
        </p:nvSpPr>
        <p:spPr>
          <a:xfrm>
            <a:off x="6473952" y="5303520"/>
            <a:ext cx="4937760" cy="91440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An invented filter column, fuzzy-matched to the wrong one, and 'credit card' vs credit_card. Both fixed and pinned as regression cases.</a:t>
            </a:r>
            <a:endParaRPr lang="en-US" sz="13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Limits and what's next</a:t>
            </a:r>
            <a:endParaRPr lang="en-US" sz="3400" dirty="0"/>
          </a:p>
        </p:txBody>
      </p:sp>
      <p:sp>
        <p:nvSpPr>
          <p:cNvPr id="3" name="Limits"/>
          <p:cNvSpPr/>
          <p:nvPr/>
        </p:nvSpPr>
        <p:spPr>
          <a:xfrm>
            <a:off x="548640" y="1280160"/>
            <a:ext cx="4480560" cy="4892040"/>
          </a:xfrm>
          <a:prstGeom prst="roundRect">
            <a:avLst>
              <a:gd name="adj" fmla="val 2449"/>
            </a:avLst>
          </a:prstGeom>
          <a:solidFill>
            <a:schemeClr val="accent5">
              <a:alpha val="12000"/>
            </a:schemeClr>
          </a:solidFill>
          <a:ln w="22225">
            <a:solidFill>
              <a:schemeClr val="accent5"/>
            </a:solidFill>
            <a:prstDash val="solid"/>
          </a:ln>
        </p:spPr>
      </p:sp>
      <p:sp>
        <p:nvSpPr>
          <p:cNvPr id="4" name="Text 2"/>
          <p:cNvSpPr txBox="1"/>
          <p:nvPr/>
        </p:nvSpPr>
        <p:spPr>
          <a:xfrm>
            <a:off x="822960" y="1371600"/>
            <a:ext cx="3931920" cy="365760"/>
          </a:xfrm>
          <a:prstGeom prst="rect">
            <a:avLst/>
          </a:prstGeom>
          <a:noFill/>
          <a:ln/>
        </p:spPr>
        <p:txBody>
          <a:bodyPr wrap="square" lIns="0" tIns="0" rIns="0" bIns="0" rtlCol="0" anchor="t"/>
          <a:lstStyle/>
          <a:p>
            <a:pPr indent="0" marL="0">
              <a:buNone/>
            </a:pPr>
            <a:r>
              <a:rPr lang="en-US" sz="1900" b="1" dirty="0">
                <a:solidFill>
                  <a:schemeClr val="accent5"/>
                </a:solidFill>
                <a:latin typeface="Calibri" pitchFamily="34" charset="0"/>
                <a:ea typeface="Calibri" pitchFamily="34" charset="-122"/>
                <a:cs typeface="Calibri" pitchFamily="34" charset="-120"/>
              </a:rPr>
              <a:t>Known limits today</a:t>
            </a:r>
            <a:endParaRPr lang="en-US" sz="1900" dirty="0"/>
          </a:p>
        </p:txBody>
      </p:sp>
      <p:sp>
        <p:nvSpPr>
          <p:cNvPr id="5" name="Text 3"/>
          <p:cNvSpPr txBox="1"/>
          <p:nvPr/>
        </p:nvSpPr>
        <p:spPr>
          <a:xfrm>
            <a:off x="822960" y="1755648"/>
            <a:ext cx="393192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Each one is a failing test on purpose</a:t>
            </a:r>
            <a:endParaRPr lang="en-US" sz="1300" dirty="0"/>
          </a:p>
        </p:txBody>
      </p:sp>
      <p:sp>
        <p:nvSpPr>
          <p:cNvPr id="6" name="Text 4"/>
          <p:cNvSpPr txBox="1"/>
          <p:nvPr/>
        </p:nvSpPr>
        <p:spPr>
          <a:xfrm>
            <a:off x="822960" y="2194560"/>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Multi-hop joins</a:t>
            </a:r>
            <a:endParaRPr lang="en-US" sz="1500" dirty="0"/>
          </a:p>
        </p:txBody>
      </p:sp>
      <p:sp>
        <p:nvSpPr>
          <p:cNvPr id="7" name="Text 5"/>
          <p:cNvSpPr txBox="1"/>
          <p:nvPr/>
        </p:nvSpPr>
        <p:spPr>
          <a:xfrm>
            <a:off x="822960" y="2487168"/>
            <a:ext cx="3931920" cy="64008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It asks for a bridge table but cannot finish the chain.</a:t>
            </a:r>
            <a:endParaRPr lang="en-US" sz="1350" dirty="0"/>
          </a:p>
        </p:txBody>
      </p:sp>
      <p:sp>
        <p:nvSpPr>
          <p:cNvPr id="8" name="Text 6"/>
          <p:cNvSpPr txBox="1"/>
          <p:nvPr/>
        </p:nvSpPr>
        <p:spPr>
          <a:xfrm>
            <a:off x="822960" y="3172968"/>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Unknown group-by</a:t>
            </a:r>
            <a:endParaRPr lang="en-US" sz="1500" dirty="0"/>
          </a:p>
        </p:txBody>
      </p:sp>
      <p:sp>
        <p:nvSpPr>
          <p:cNvPr id="9" name="Text 7"/>
          <p:cNvSpPr txBox="1"/>
          <p:nvPr/>
        </p:nvSpPr>
        <p:spPr>
          <a:xfrm>
            <a:off x="822960" y="3465576"/>
            <a:ext cx="3931920" cy="64008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A column that does not exist is silently dropped.</a:t>
            </a:r>
            <a:endParaRPr lang="en-US" sz="1350" dirty="0"/>
          </a:p>
        </p:txBody>
      </p:sp>
      <p:sp>
        <p:nvSpPr>
          <p:cNvPr id="10" name="Text 8"/>
          <p:cNvSpPr txBox="1"/>
          <p:nvPr/>
        </p:nvSpPr>
        <p:spPr>
          <a:xfrm>
            <a:off x="822960" y="4151376"/>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Unsupported time phrase</a:t>
            </a:r>
            <a:endParaRPr lang="en-US" sz="1500" dirty="0"/>
          </a:p>
        </p:txBody>
      </p:sp>
      <p:sp>
        <p:nvSpPr>
          <p:cNvPr id="11" name="Text 9"/>
          <p:cNvSpPr txBox="1"/>
          <p:nvPr/>
        </p:nvSpPr>
        <p:spPr>
          <a:xfrm>
            <a:off x="822960" y="4443984"/>
            <a:ext cx="3931920" cy="64008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last quarter falls back to the last 7 days.</a:t>
            </a:r>
            <a:endParaRPr lang="en-US" sz="1350" dirty="0"/>
          </a:p>
        </p:txBody>
      </p:sp>
      <p:sp>
        <p:nvSpPr>
          <p:cNvPr id="12" name="Text 10"/>
          <p:cNvSpPr txBox="1"/>
          <p:nvPr/>
        </p:nvSpPr>
        <p:spPr>
          <a:xfrm>
            <a:off x="822960" y="5129784"/>
            <a:ext cx="393192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More questions</a:t>
            </a:r>
            <a:endParaRPr lang="en-US" sz="1500" dirty="0"/>
          </a:p>
        </p:txBody>
      </p:sp>
      <p:sp>
        <p:nvSpPr>
          <p:cNvPr id="13" name="Text 11"/>
          <p:cNvSpPr txBox="1"/>
          <p:nvPr/>
        </p:nvSpPr>
        <p:spPr>
          <a:xfrm>
            <a:off x="822960" y="5422392"/>
            <a:ext cx="3931920" cy="64008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Tight thresholds ask on loose wording. Fix: curated aliases, or the optional LLM final selection.</a:t>
            </a:r>
            <a:endParaRPr lang="en-US" sz="1350" dirty="0"/>
          </a:p>
        </p:txBody>
      </p:sp>
      <p:sp>
        <p:nvSpPr>
          <p:cNvPr id="14" name="Text 12"/>
          <p:cNvSpPr txBox="1"/>
          <p:nvPr/>
        </p:nvSpPr>
        <p:spPr>
          <a:xfrm>
            <a:off x="5257800" y="1280160"/>
            <a:ext cx="6309360" cy="365760"/>
          </a:xfrm>
          <a:prstGeom prst="rect">
            <a:avLst/>
          </a:prstGeom>
          <a:noFill/>
          <a:ln/>
        </p:spPr>
        <p:txBody>
          <a:bodyPr wrap="square" lIns="0" tIns="0" rIns="0" bIns="0" rtlCol="0" anchor="t"/>
          <a:lstStyle/>
          <a:p>
            <a:pPr indent="0" marL="0">
              <a:buNone/>
            </a:pPr>
            <a:r>
              <a:rPr lang="en-US" sz="1900" b="1" dirty="0">
                <a:solidFill>
                  <a:schemeClr val="accent2"/>
                </a:solidFill>
                <a:latin typeface="Calibri" pitchFamily="34" charset="0"/>
                <a:ea typeface="Calibri" pitchFamily="34" charset="-122"/>
                <a:cs typeface="Calibri" pitchFamily="34" charset="-120"/>
              </a:rPr>
              <a:t>From demo to production</a:t>
            </a:r>
            <a:endParaRPr lang="en-US" sz="1900" dirty="0"/>
          </a:p>
        </p:txBody>
      </p:sp>
      <p:sp>
        <p:nvSpPr>
          <p:cNvPr id="15" name="Step 1"/>
          <p:cNvSpPr/>
          <p:nvPr/>
        </p:nvSpPr>
        <p:spPr>
          <a:xfrm>
            <a:off x="5257800" y="1783080"/>
            <a:ext cx="411480" cy="411480"/>
          </a:xfrm>
          <a:prstGeom prst="ellipse">
            <a:avLst/>
          </a:prstGeom>
          <a:solidFill>
            <a:schemeClr val="accent2"/>
          </a:solidFill>
          <a:ln w="6350">
            <a:solidFill>
              <a:schemeClr val="accent2"/>
            </a:solidFill>
            <a:prstDash val="solid"/>
          </a:ln>
        </p:spPr>
      </p:sp>
      <p:sp>
        <p:nvSpPr>
          <p:cNvPr id="16" name="Text 14"/>
          <p:cNvSpPr txBox="1"/>
          <p:nvPr/>
        </p:nvSpPr>
        <p:spPr>
          <a:xfrm>
            <a:off x="5257800"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5852160" y="1737360"/>
            <a:ext cx="5760720" cy="274320"/>
          </a:xfrm>
          <a:prstGeom prst="rect">
            <a:avLst/>
          </a:prstGeom>
          <a:noFill/>
          <a:ln/>
        </p:spPr>
        <p:txBody>
          <a:bodyPr wrap="square" lIns="0" tIns="0" rIns="0" bIns="0" rtlCol="0" anchor="t"/>
          <a:lstStyle/>
          <a:p>
            <a:pPr indent="0" marL="0">
              <a:buNone/>
            </a:pPr>
            <a:r>
              <a:rPr lang="en-US" sz="1550" b="1" dirty="0">
                <a:solidFill>
                  <a:schemeClr val="tx1"/>
                </a:solidFill>
                <a:latin typeface="Calibri" pitchFamily="34" charset="0"/>
                <a:ea typeface="Calibri" pitchFamily="34" charset="-122"/>
                <a:cs typeface="Calibri" pitchFamily="34" charset="-120"/>
              </a:rPr>
              <a:t>Catalog integration</a:t>
            </a:r>
            <a:endParaRPr lang="en-US" sz="1550" dirty="0"/>
          </a:p>
        </p:txBody>
      </p:sp>
      <p:sp>
        <p:nvSpPr>
          <p:cNvPr id="18" name="Text 16"/>
          <p:cNvSpPr txBox="1"/>
          <p:nvPr/>
        </p:nvSpPr>
        <p:spPr>
          <a:xfrm>
            <a:off x="5852160" y="2011680"/>
            <a:ext cx="5788152" cy="594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Swap the 3 source adapters for Unity Catalog, semantic-layer and alias-DB clients. Versioned snapshots; rebuild the index in the background, then swap it atomically.</a:t>
            </a:r>
            <a:endParaRPr lang="en-US" sz="1300" dirty="0"/>
          </a:p>
        </p:txBody>
      </p:sp>
      <p:sp>
        <p:nvSpPr>
          <p:cNvPr id="19" name="Step 2"/>
          <p:cNvSpPr/>
          <p:nvPr/>
        </p:nvSpPr>
        <p:spPr>
          <a:xfrm>
            <a:off x="5257800" y="2679192"/>
            <a:ext cx="411480" cy="411480"/>
          </a:xfrm>
          <a:prstGeom prst="ellipse">
            <a:avLst/>
          </a:prstGeom>
          <a:solidFill>
            <a:schemeClr val="accent2"/>
          </a:solidFill>
          <a:ln w="6350">
            <a:solidFill>
              <a:schemeClr val="accent2"/>
            </a:solidFill>
            <a:prstDash val="solid"/>
          </a:ln>
        </p:spPr>
      </p:sp>
      <p:sp>
        <p:nvSpPr>
          <p:cNvPr id="20" name="Text 18"/>
          <p:cNvSpPr txBox="1"/>
          <p:nvPr/>
        </p:nvSpPr>
        <p:spPr>
          <a:xfrm>
            <a:off x="5257800" y="267919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21" name="Text 19"/>
          <p:cNvSpPr txBox="1"/>
          <p:nvPr/>
        </p:nvSpPr>
        <p:spPr>
          <a:xfrm>
            <a:off x="5852160" y="2633472"/>
            <a:ext cx="5760720" cy="274320"/>
          </a:xfrm>
          <a:prstGeom prst="rect">
            <a:avLst/>
          </a:prstGeom>
          <a:noFill/>
          <a:ln/>
        </p:spPr>
        <p:txBody>
          <a:bodyPr wrap="square" lIns="0" tIns="0" rIns="0" bIns="0" rtlCol="0" anchor="t"/>
          <a:lstStyle/>
          <a:p>
            <a:pPr indent="0" marL="0">
              <a:buNone/>
            </a:pPr>
            <a:r>
              <a:rPr lang="en-US" sz="1550" b="1" dirty="0">
                <a:solidFill>
                  <a:schemeClr val="tx1"/>
                </a:solidFill>
                <a:latin typeface="Calibri" pitchFamily="34" charset="0"/>
                <a:ea typeface="Calibri" pitchFamily="34" charset="-122"/>
                <a:cs typeface="Calibri" pitchFamily="34" charset="-120"/>
              </a:rPr>
              <a:t>Alias governance</a:t>
            </a:r>
            <a:endParaRPr lang="en-US" sz="1550" dirty="0"/>
          </a:p>
        </p:txBody>
      </p:sp>
      <p:sp>
        <p:nvSpPr>
          <p:cNvPr id="22" name="Text 20"/>
          <p:cNvSpPr txBox="1"/>
          <p:nvPr/>
        </p:nvSpPr>
        <p:spPr>
          <a:xfrm>
            <a:off x="5852160" y="2907792"/>
            <a:ext cx="5788152" cy="594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Aliases as reviewed data, layered by source. Nothing unreviewed goes live.</a:t>
            </a:r>
            <a:endParaRPr lang="en-US" sz="1300" dirty="0"/>
          </a:p>
        </p:txBody>
      </p:sp>
      <p:sp>
        <p:nvSpPr>
          <p:cNvPr id="23" name="Step 3"/>
          <p:cNvSpPr/>
          <p:nvPr/>
        </p:nvSpPr>
        <p:spPr>
          <a:xfrm>
            <a:off x="5257800" y="3575304"/>
            <a:ext cx="411480" cy="411480"/>
          </a:xfrm>
          <a:prstGeom prst="ellipse">
            <a:avLst/>
          </a:prstGeom>
          <a:solidFill>
            <a:schemeClr val="accent2"/>
          </a:solidFill>
          <a:ln w="6350">
            <a:solidFill>
              <a:schemeClr val="accent2"/>
            </a:solidFill>
            <a:prstDash val="solid"/>
          </a:ln>
        </p:spPr>
      </p:sp>
      <p:sp>
        <p:nvSpPr>
          <p:cNvPr id="24" name="Text 22"/>
          <p:cNvSpPr txBox="1"/>
          <p:nvPr/>
        </p:nvSpPr>
        <p:spPr>
          <a:xfrm>
            <a:off x="5257800" y="357530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25" name="Text 23"/>
          <p:cNvSpPr txBox="1"/>
          <p:nvPr/>
        </p:nvSpPr>
        <p:spPr>
          <a:xfrm>
            <a:off x="5852160" y="3529584"/>
            <a:ext cx="5760720" cy="274320"/>
          </a:xfrm>
          <a:prstGeom prst="rect">
            <a:avLst/>
          </a:prstGeom>
          <a:noFill/>
          <a:ln/>
        </p:spPr>
        <p:txBody>
          <a:bodyPr wrap="square" lIns="0" tIns="0" rIns="0" bIns="0" rtlCol="0" anchor="t"/>
          <a:lstStyle/>
          <a:p>
            <a:pPr indent="0" marL="0">
              <a:buNone/>
            </a:pPr>
            <a:r>
              <a:rPr lang="en-US" sz="1550" b="1" dirty="0">
                <a:solidFill>
                  <a:schemeClr val="tx1"/>
                </a:solidFill>
                <a:latin typeface="Calibri" pitchFamily="34" charset="0"/>
                <a:ea typeface="Calibri" pitchFamily="34" charset="-122"/>
                <a:cs typeface="Calibri" pitchFamily="34" charset="-120"/>
              </a:rPr>
              <a:t>Hybrid retrieval</a:t>
            </a:r>
            <a:endParaRPr lang="en-US" sz="1550" dirty="0"/>
          </a:p>
        </p:txBody>
      </p:sp>
      <p:sp>
        <p:nvSpPr>
          <p:cNvPr id="26" name="Text 24"/>
          <p:cNvSpPr txBox="1"/>
          <p:nvPr/>
        </p:nvSpPr>
        <p:spPr>
          <a:xfrm>
            <a:off x="5852160" y="3803904"/>
            <a:ext cx="5788152" cy="594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An embedding retriever beside the lexical index, then a constrained LLM final selection.</a:t>
            </a:r>
            <a:endParaRPr lang="en-US" sz="1300" dirty="0"/>
          </a:p>
        </p:txBody>
      </p:sp>
      <p:sp>
        <p:nvSpPr>
          <p:cNvPr id="27" name="Step 4"/>
          <p:cNvSpPr/>
          <p:nvPr/>
        </p:nvSpPr>
        <p:spPr>
          <a:xfrm>
            <a:off x="5257800" y="4471416"/>
            <a:ext cx="411480" cy="411480"/>
          </a:xfrm>
          <a:prstGeom prst="ellipse">
            <a:avLst/>
          </a:prstGeom>
          <a:solidFill>
            <a:schemeClr val="accent2"/>
          </a:solidFill>
          <a:ln w="6350">
            <a:solidFill>
              <a:schemeClr val="accent2"/>
            </a:solidFill>
            <a:prstDash val="solid"/>
          </a:ln>
        </p:spPr>
      </p:sp>
      <p:sp>
        <p:nvSpPr>
          <p:cNvPr id="28" name="Text 26"/>
          <p:cNvSpPr txBox="1"/>
          <p:nvPr/>
        </p:nvSpPr>
        <p:spPr>
          <a:xfrm>
            <a:off x="5257800" y="447141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29" name="Text 27"/>
          <p:cNvSpPr txBox="1"/>
          <p:nvPr/>
        </p:nvSpPr>
        <p:spPr>
          <a:xfrm>
            <a:off x="5852160" y="4425696"/>
            <a:ext cx="5760720" cy="274320"/>
          </a:xfrm>
          <a:prstGeom prst="rect">
            <a:avLst/>
          </a:prstGeom>
          <a:noFill/>
          <a:ln/>
        </p:spPr>
        <p:txBody>
          <a:bodyPr wrap="square" lIns="0" tIns="0" rIns="0" bIns="0" rtlCol="0" anchor="t"/>
          <a:lstStyle/>
          <a:p>
            <a:pPr indent="0" marL="0">
              <a:buNone/>
            </a:pPr>
            <a:r>
              <a:rPr lang="en-US" sz="1550" b="1" dirty="0">
                <a:solidFill>
                  <a:schemeClr val="tx1"/>
                </a:solidFill>
                <a:latin typeface="Calibri" pitchFamily="34" charset="0"/>
                <a:ea typeface="Calibri" pitchFamily="34" charset="-122"/>
                <a:cs typeface="Calibri" pitchFamily="34" charset="-120"/>
              </a:rPr>
              <a:t>Verified queries + feedback</a:t>
            </a:r>
            <a:endParaRPr lang="en-US" sz="1550" dirty="0"/>
          </a:p>
        </p:txBody>
      </p:sp>
      <p:sp>
        <p:nvSpPr>
          <p:cNvPr id="30" name="Text 28"/>
          <p:cNvSpPr txBox="1"/>
          <p:nvPr/>
        </p:nvSpPr>
        <p:spPr>
          <a:xfrm>
            <a:off x="5852160" y="4700016"/>
            <a:ext cx="5788152" cy="594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Validated question-to-SQL library as few-shot. Confirmations become candidate aliases after review. Golden eval gates every release.</a:t>
            </a:r>
            <a:endParaRPr lang="en-US" sz="1300" dirty="0"/>
          </a:p>
        </p:txBody>
      </p:sp>
      <p:sp>
        <p:nvSpPr>
          <p:cNvPr id="31" name="Step 5"/>
          <p:cNvSpPr/>
          <p:nvPr/>
        </p:nvSpPr>
        <p:spPr>
          <a:xfrm>
            <a:off x="5257800" y="5367528"/>
            <a:ext cx="411480" cy="411480"/>
          </a:xfrm>
          <a:prstGeom prst="ellipse">
            <a:avLst/>
          </a:prstGeom>
          <a:solidFill>
            <a:schemeClr val="accent2"/>
          </a:solidFill>
          <a:ln w="6350">
            <a:solidFill>
              <a:schemeClr val="accent2"/>
            </a:solidFill>
            <a:prstDash val="solid"/>
          </a:ln>
        </p:spPr>
      </p:sp>
      <p:sp>
        <p:nvSpPr>
          <p:cNvPr id="32" name="Text 30"/>
          <p:cNvSpPr txBox="1"/>
          <p:nvPr/>
        </p:nvSpPr>
        <p:spPr>
          <a:xfrm>
            <a:off x="5257800" y="536752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33" name="Text 31"/>
          <p:cNvSpPr txBox="1"/>
          <p:nvPr/>
        </p:nvSpPr>
        <p:spPr>
          <a:xfrm>
            <a:off x="5852160" y="5321808"/>
            <a:ext cx="5760720" cy="274320"/>
          </a:xfrm>
          <a:prstGeom prst="rect">
            <a:avLst/>
          </a:prstGeom>
          <a:noFill/>
          <a:ln/>
        </p:spPr>
        <p:txBody>
          <a:bodyPr wrap="square" lIns="0" tIns="0" rIns="0" bIns="0" rtlCol="0" anchor="t"/>
          <a:lstStyle/>
          <a:p>
            <a:pPr indent="0" marL="0">
              <a:buNone/>
            </a:pPr>
            <a:r>
              <a:rPr lang="en-US" sz="1550" b="1" dirty="0">
                <a:solidFill>
                  <a:schemeClr val="tx1"/>
                </a:solidFill>
                <a:latin typeface="Calibri" pitchFamily="34" charset="0"/>
                <a:ea typeface="Calibri" pitchFamily="34" charset="-122"/>
                <a:cs typeface="Calibri" pitchFamily="34" charset="-120"/>
              </a:rPr>
              <a:t>Execution + governance</a:t>
            </a:r>
            <a:endParaRPr lang="en-US" sz="1550" dirty="0"/>
          </a:p>
        </p:txBody>
      </p:sp>
      <p:sp>
        <p:nvSpPr>
          <p:cNvPr id="34" name="Text 32"/>
          <p:cNvSpPr txBox="1"/>
          <p:nvPr/>
        </p:nvSpPr>
        <p:spPr>
          <a:xfrm>
            <a:off x="5852160" y="5596128"/>
            <a:ext cx="5788152" cy="594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Read-only account, cost gate, timeouts, result cache. Row-level security, rate limits, PII masking, audit log.</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822960"/>
            <a:ext cx="10058400" cy="731520"/>
          </a:xfrm>
          <a:prstGeom prst="rect">
            <a:avLst/>
          </a:prstGeom>
          <a:noFill/>
          <a:ln/>
        </p:spPr>
        <p:txBody>
          <a:bodyPr wrap="square" lIns="0" tIns="0" rIns="0" bIns="0" rtlCol="0" anchor="t"/>
          <a:lstStyle/>
          <a:p>
            <a:pPr indent="0" marL="0">
              <a:buNone/>
            </a:pPr>
            <a:r>
              <a:rPr lang="en-US" sz="4000" b="1" dirty="0">
                <a:solidFill>
                  <a:schemeClr val="bg1"/>
                </a:solidFill>
                <a:latin typeface="Calibri" pitchFamily="34" charset="0"/>
                <a:ea typeface="Calibri" pitchFamily="34" charset="-122"/>
                <a:cs typeface="Calibri" pitchFamily="34" charset="-120"/>
              </a:rPr>
              <a:t>Takeaways</a:t>
            </a:r>
            <a:endParaRPr lang="en-US" sz="4000" dirty="0"/>
          </a:p>
        </p:txBody>
      </p:sp>
      <p:sp>
        <p:nvSpPr>
          <p:cNvPr id="3" name="Takeaway 1"/>
          <p:cNvSpPr/>
          <p:nvPr/>
        </p:nvSpPr>
        <p:spPr>
          <a:xfrm>
            <a:off x="822960" y="1874520"/>
            <a:ext cx="640080" cy="640080"/>
          </a:xfrm>
          <a:prstGeom prst="ellipse">
            <a:avLst/>
          </a:prstGeom>
          <a:solidFill>
            <a:schemeClr val="accent1"/>
          </a:solidFill>
          <a:ln w="12700">
            <a:solidFill>
              <a:schemeClr val="accent6"/>
            </a:solidFill>
            <a:prstDash val="solid"/>
          </a:ln>
        </p:spPr>
      </p:sp>
      <p:sp>
        <p:nvSpPr>
          <p:cNvPr id="4" name="Text 2"/>
          <p:cNvSpPr txBox="1"/>
          <p:nvPr/>
        </p:nvSpPr>
        <p:spPr>
          <a:xfrm>
            <a:off x="822960" y="18745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1</a:t>
            </a:r>
            <a:endParaRPr lang="en-US" sz="2400" dirty="0"/>
          </a:p>
        </p:txBody>
      </p:sp>
      <p:sp>
        <p:nvSpPr>
          <p:cNvPr id="5" name="Text 3"/>
          <p:cNvSpPr txBox="1"/>
          <p:nvPr/>
        </p:nvSpPr>
        <p:spPr>
          <a:xfrm>
            <a:off x="1737360" y="1828800"/>
            <a:ext cx="9601200" cy="457200"/>
          </a:xfrm>
          <a:prstGeom prst="rect">
            <a:avLst/>
          </a:prstGeom>
          <a:noFill/>
          <a:ln/>
        </p:spPr>
        <p:txBody>
          <a:bodyPr wrap="square" lIns="0" tIns="0" rIns="0" bIns="0" rtlCol="0" anchor="t"/>
          <a:lstStyle/>
          <a:p>
            <a:pPr indent="0" marL="0">
              <a:buNone/>
            </a:pPr>
            <a:r>
              <a:rPr lang="en-US" sz="2600" b="1" dirty="0">
                <a:solidFill>
                  <a:schemeClr val="bg1"/>
                </a:solidFill>
                <a:latin typeface="Calibri" pitchFamily="34" charset="0"/>
                <a:ea typeface="Calibri" pitchFamily="34" charset="-122"/>
                <a:cs typeface="Calibri" pitchFamily="34" charset="-120"/>
              </a:rPr>
              <a:t>The LLM is a component, not the authority</a:t>
            </a:r>
            <a:endParaRPr lang="en-US" sz="2600" dirty="0"/>
          </a:p>
        </p:txBody>
      </p:sp>
      <p:sp>
        <p:nvSpPr>
          <p:cNvPr id="6" name="Text 4"/>
          <p:cNvSpPr txBox="1"/>
          <p:nvPr/>
        </p:nvSpPr>
        <p:spPr>
          <a:xfrm>
            <a:off x="1737360" y="2331720"/>
            <a:ext cx="9601200" cy="4572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It appears in two constrained places. Names are decided by deterministic code.</a:t>
            </a:r>
            <a:endParaRPr lang="en-US" sz="1800" dirty="0"/>
          </a:p>
        </p:txBody>
      </p:sp>
      <p:sp>
        <p:nvSpPr>
          <p:cNvPr id="7" name="Takeaway 2"/>
          <p:cNvSpPr/>
          <p:nvPr/>
        </p:nvSpPr>
        <p:spPr>
          <a:xfrm>
            <a:off x="822960" y="3200400"/>
            <a:ext cx="640080" cy="640080"/>
          </a:xfrm>
          <a:prstGeom prst="ellipse">
            <a:avLst/>
          </a:prstGeom>
          <a:solidFill>
            <a:schemeClr val="accent1"/>
          </a:solidFill>
          <a:ln w="12700">
            <a:solidFill>
              <a:schemeClr val="accent6"/>
            </a:solidFill>
            <a:prstDash val="solid"/>
          </a:ln>
        </p:spPr>
      </p:sp>
      <p:sp>
        <p:nvSpPr>
          <p:cNvPr id="8" name="Text 6"/>
          <p:cNvSpPr txBox="1"/>
          <p:nvPr/>
        </p:nvSpPr>
        <p:spPr>
          <a:xfrm>
            <a:off x="822960" y="32004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2</a:t>
            </a:r>
            <a:endParaRPr lang="en-US" sz="2400" dirty="0"/>
          </a:p>
        </p:txBody>
      </p:sp>
      <p:sp>
        <p:nvSpPr>
          <p:cNvPr id="9" name="Text 7"/>
          <p:cNvSpPr txBox="1"/>
          <p:nvPr/>
        </p:nvSpPr>
        <p:spPr>
          <a:xfrm>
            <a:off x="1737360" y="3154680"/>
            <a:ext cx="9601200" cy="457200"/>
          </a:xfrm>
          <a:prstGeom prst="rect">
            <a:avLst/>
          </a:prstGeom>
          <a:noFill/>
          <a:ln/>
        </p:spPr>
        <p:txBody>
          <a:bodyPr wrap="square" lIns="0" tIns="0" rIns="0" bIns="0" rtlCol="0" anchor="t"/>
          <a:lstStyle/>
          <a:p>
            <a:pPr indent="0" marL="0">
              <a:buNone/>
            </a:pPr>
            <a:r>
              <a:rPr lang="en-US" sz="2600" b="1" dirty="0">
                <a:solidFill>
                  <a:schemeClr val="bg1"/>
                </a:solidFill>
                <a:latin typeface="Calibri" pitchFamily="34" charset="0"/>
                <a:ea typeface="Calibri" pitchFamily="34" charset="-122"/>
                <a:cs typeface="Calibri" pitchFamily="34" charset="-120"/>
              </a:rPr>
              <a:t>Ask, don't guess</a:t>
            </a:r>
            <a:endParaRPr lang="en-US" sz="2600" dirty="0"/>
          </a:p>
        </p:txBody>
      </p:sp>
      <p:sp>
        <p:nvSpPr>
          <p:cNvPr id="10" name="Text 8"/>
          <p:cNvSpPr txBox="1"/>
          <p:nvPr/>
        </p:nvSpPr>
        <p:spPr>
          <a:xfrm>
            <a:off x="1737360" y="3657600"/>
            <a:ext cx="9601200" cy="4572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Scored bands, a confirmation flow, and typed multi-turn state.</a:t>
            </a:r>
            <a:endParaRPr lang="en-US" sz="1800" dirty="0"/>
          </a:p>
        </p:txBody>
      </p:sp>
      <p:sp>
        <p:nvSpPr>
          <p:cNvPr id="11" name="Takeaway 3"/>
          <p:cNvSpPr/>
          <p:nvPr/>
        </p:nvSpPr>
        <p:spPr>
          <a:xfrm>
            <a:off x="822960" y="4526280"/>
            <a:ext cx="640080" cy="640080"/>
          </a:xfrm>
          <a:prstGeom prst="ellipse">
            <a:avLst/>
          </a:prstGeom>
          <a:solidFill>
            <a:schemeClr val="accent1"/>
          </a:solidFill>
          <a:ln w="12700">
            <a:solidFill>
              <a:schemeClr val="accent6"/>
            </a:solidFill>
            <a:prstDash val="solid"/>
          </a:ln>
        </p:spPr>
      </p:sp>
      <p:sp>
        <p:nvSpPr>
          <p:cNvPr id="12" name="Text 10"/>
          <p:cNvSpPr txBox="1"/>
          <p:nvPr/>
        </p:nvSpPr>
        <p:spPr>
          <a:xfrm>
            <a:off x="822960" y="45262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3</a:t>
            </a:r>
            <a:endParaRPr lang="en-US" sz="2400" dirty="0"/>
          </a:p>
        </p:txBody>
      </p:sp>
      <p:sp>
        <p:nvSpPr>
          <p:cNvPr id="13" name="Text 11"/>
          <p:cNvSpPr txBox="1"/>
          <p:nvPr/>
        </p:nvSpPr>
        <p:spPr>
          <a:xfrm>
            <a:off x="1737360" y="4480560"/>
            <a:ext cx="9601200" cy="457200"/>
          </a:xfrm>
          <a:prstGeom prst="rect">
            <a:avLst/>
          </a:prstGeom>
          <a:noFill/>
          <a:ln/>
        </p:spPr>
        <p:txBody>
          <a:bodyPr wrap="square" lIns="0" tIns="0" rIns="0" bIns="0" rtlCol="0" anchor="t"/>
          <a:lstStyle/>
          <a:p>
            <a:pPr indent="0" marL="0">
              <a:buNone/>
            </a:pPr>
            <a:r>
              <a:rPr lang="en-US" sz="2600" b="1" dirty="0">
                <a:solidFill>
                  <a:schemeClr val="bg1"/>
                </a:solidFill>
                <a:latin typeface="Calibri" pitchFamily="34" charset="0"/>
                <a:ea typeface="Calibri" pitchFamily="34" charset="-122"/>
                <a:cs typeface="Calibri" pitchFamily="34" charset="-120"/>
              </a:rPr>
              <a:t>Evidence over claims</a:t>
            </a:r>
            <a:endParaRPr lang="en-US" sz="2600" dirty="0"/>
          </a:p>
        </p:txBody>
      </p:sp>
      <p:sp>
        <p:nvSpPr>
          <p:cNvPr id="14" name="Text 12"/>
          <p:cNvSpPr txBox="1"/>
          <p:nvPr/>
        </p:nvSpPr>
        <p:spPr>
          <a:xfrm>
            <a:off x="1737360" y="4983480"/>
            <a:ext cx="9601200" cy="45720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A mocked suite for the core, a live eval for the model, and known limits published as tests.</a:t>
            </a:r>
            <a:endParaRPr lang="en-US" sz="1800" dirty="0"/>
          </a:p>
        </p:txBody>
      </p:sp>
      <p:sp>
        <p:nvSpPr>
          <p:cNvPr id="15" name="Text 13"/>
          <p:cNvSpPr txBox="1"/>
          <p:nvPr/>
        </p:nvSpPr>
        <p:spPr>
          <a:xfrm>
            <a:off x="822960" y="5852160"/>
            <a:ext cx="5486400" cy="640080"/>
          </a:xfrm>
          <a:prstGeom prst="rect">
            <a:avLst/>
          </a:prstGeom>
          <a:noFill/>
          <a:ln/>
        </p:spPr>
        <p:txBody>
          <a:bodyPr wrap="square" lIns="0" tIns="0" rIns="0" bIns="0" rtlCol="0" anchor="t"/>
          <a:lstStyle/>
          <a:p>
            <a:pPr indent="0" marL="0">
              <a:buNone/>
            </a:pPr>
            <a:r>
              <a:rPr lang="en-US" sz="3200" b="1" dirty="0">
                <a:solidFill>
                  <a:schemeClr val="accent6"/>
                </a:solidFill>
                <a:latin typeface="Calibri" pitchFamily="34" charset="0"/>
                <a:ea typeface="Calibri" pitchFamily="34" charset="-122"/>
                <a:cs typeface="Calibri" pitchFamily="34" charset="-120"/>
              </a:rPr>
              <a:t>Questions?</a:t>
            </a:r>
            <a:endParaRPr lang="en-US" sz="3200" dirty="0"/>
          </a:p>
        </p:txBody>
      </p:sp>
    </p:spTree>
  </p:cSld>
  <p:clrMapOvr>
    <a:masterClrMapping/>
  </p:clrMapOvr>
</p:sld>
</file>

<file path=ppt/theme/theme1.xml><?xml version="1.0" encoding="utf-8"?>
<a:theme xmlns:a="http://schemas.openxmlformats.org/drawingml/2006/main" name="Text2SQL Agent">
  <a:themeElements>
    <a:clrScheme name="Text2SQL Agent">
      <a:dk1>
        <a:srgbClr val="1F3A6E"/>
      </a:dk1>
      <a:lt1>
        <a:srgbClr val="FFFFFF"/>
      </a:lt1>
      <a:dk2>
        <a:srgbClr val="5B6B85"/>
      </a:dk2>
      <a:lt2>
        <a:srgbClr val="FBF8F0"/>
      </a:lt2>
      <a:accent1>
        <a:srgbClr val="1F4E9C"/>
      </a:accent1>
      <a:accent2>
        <a:srgbClr val="2E8B57"/>
      </a:accent2>
      <a:accent3>
        <a:srgbClr val="E08A1E"/>
      </a:accent3>
      <a:accent4>
        <a:srgbClr val="6B4FA8"/>
      </a:accent4>
      <a:accent5>
        <a:srgbClr val="B03A48"/>
      </a:accent5>
      <a:accent6>
        <a:srgbClr val="3E6FB5"/>
      </a:accent6>
      <a:hlink>
        <a:srgbClr val="1F4E9C"/>
      </a:hlink>
      <a:folHlink>
        <a:srgbClr val="6B4FA8"/>
      </a:folHlink>
    </a:clrScheme>
    <a:fontScheme name="Text2SQL Age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Text2SQL Agent: Text-to-SQL you can trust</dc:title>
  <dc:subject>PptxGenJS Presentation</dc:subject>
  <dc:creator>PptxGenJS</dc:creator>
  <cp:lastModifiedBy>PptxGenJS</cp:lastModifiedBy>
  <cp:revision>1</cp:revision>
  <dcterms:created xsi:type="dcterms:W3CDTF">2026-10-04T13:13:49Z</dcterms:created>
  <dcterms:modified xsi:type="dcterms:W3CDTF">2026-10-04T13:13:49Z</dcterms:modified>
</cp:coreProperties>
</file>